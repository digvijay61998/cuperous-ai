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v3 merges three ideas: Round 2 support assistant, Team DOD actionable delivery agent and myKONE Smart Assist. One assistant, four pillars.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Credit the internal teams: this is their problem statement. We bring one platform that solves all three.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Milestone names and customer tasks are the real myKONE delivery texts. 'On schedule' and 'action required' are derived from the milestone delayed flag and open tasks.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Statuses are the real myKONE tender statuses. Approving and adding a PO happen on the myKONE tender page through a deep link. In-chat actions are a later phase.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Customers cannot request a quote themselves in myKONE today, so the bot raises a ticket for the specialist instead of promising a quote.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Status and work-order steps match the myKONE equipment app. Emergencies are never handled by AI and always get the phone number.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 honest: this is on the roadmap, not in the live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Business-level only. Technical detail: short-lived assistant token issued by the portal, connector as a KONE microapp using existing token verification and permissions.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10 min/query figure is from the Smart Assist proposal. Replace with pilot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notesSlide" Target="../notesSlides/notes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notesSlide" Target="../notesSlides/notesSlide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notesSlide" Target="../notesSlides/notesSlide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8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9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2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680960" y="-1097280"/>
            <a:ext cx="5943600" cy="5943600"/>
          </a:xfrm>
          <a:prstGeom prst="ellipse">
            <a:avLst/>
          </a:prstGeom>
          <a:solidFill>
            <a:srgbClr val="145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509760" y="4206240"/>
            <a:ext cx="4114800" cy="4114800"/>
          </a:xfrm>
          <a:prstGeom prst="ellipse">
            <a:avLst/>
          </a:prstGeom>
          <a:solidFill>
            <a:srgbClr val="224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widget-rob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0" y="1371600"/>
            <a:ext cx="3474720" cy="2991900"/>
          </a:xfrm>
          <a:prstGeom prst="rect">
            <a:avLst/>
          </a:prstGeom>
        </p:spPr>
      </p:pic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640080"/>
            <a:ext cx="1005840" cy="10058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1920240" y="868680"/>
            <a:ext cx="1554480" cy="56692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kone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57400" y="969264"/>
            <a:ext cx="1280160" cy="51419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1520" y="2011680"/>
            <a:ext cx="7315200" cy="16459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Arial"/>
              </a:rPr>
              <a:t>myKONE Assistant</a:t>
            </a:r>
          </a:p>
          <a:p>
            <a:pPr algn="l"/>
            <a:r>
              <a:rPr sz="4600" b="1" i="0">
                <a:solidFill>
                  <a:srgbClr val="FFFFFF"/>
                </a:solidFill>
                <a:latin typeface="Arial"/>
              </a:rPr>
              <a:t>powered by JarCube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703320"/>
            <a:ext cx="6766560" cy="10058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700" b="0" i="0">
                <a:solidFill>
                  <a:srgbClr val="DAE4FF"/>
                </a:solidFill>
                <a:latin typeface="Arial"/>
              </a:rPr>
              <a:t>One conversation for every myKONE question: how-to, delivery, equipment, tenders, reports and invoices. It tells customers what is happening, what comes next and what they need to do.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892040"/>
            <a:ext cx="1463040" cy="4572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 i="0">
                <a:solidFill>
                  <a:srgbClr val="13234A"/>
                </a:solidFill>
                <a:latin typeface="Arial"/>
              </a:rPr>
              <a:t>Know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331720" y="4892040"/>
            <a:ext cx="1463040" cy="457200"/>
          </a:xfrm>
          <a:prstGeom prst="roundRect">
            <a:avLst>
              <a:gd name="adj" fmla="val 15000"/>
            </a:avLst>
          </a:prstGeom>
          <a:solidFill>
            <a:srgbClr val="145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Track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931920" y="4892040"/>
            <a:ext cx="1463040" cy="457200"/>
          </a:xfrm>
          <a:prstGeom prst="roundRect">
            <a:avLst>
              <a:gd name="adj" fmla="val 15000"/>
            </a:avLst>
          </a:prstGeom>
          <a:solidFill>
            <a:srgbClr val="145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Act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532120" y="4892040"/>
            <a:ext cx="1463040" cy="457200"/>
          </a:xfrm>
          <a:prstGeom prst="roundRect">
            <a:avLst>
              <a:gd name="adj" fmla="val 15000"/>
            </a:avLst>
          </a:prstGeom>
          <a:solidFill>
            <a:srgbClr val="145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Hand over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669280"/>
            <a:ext cx="640080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00" b="0" i="0">
                <a:solidFill>
                  <a:srgbClr val="DAE4FF"/>
                </a:solidFill>
                <a:latin typeface="Arial"/>
              </a:rPr>
              <a:t>Pitch v3  ·  October 2026  ·  For myKONE Business Owner, Product Owner &amp; CTO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5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875520" cy="6400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600" b="1" i="0">
                <a:solidFill>
                  <a:srgbClr val="13234A"/>
                </a:solidFill>
                <a:latin typeface="Arial"/>
              </a:rPr>
              <a:t>The problem: the information exists, but is hard to reach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241280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500" b="0" i="0">
                <a:solidFill>
                  <a:srgbClr val="5B6478"/>
                </a:solidFill>
                <a:latin typeface="Arial"/>
              </a:rPr>
              <a:t>Three teams saw the same gap from three angles</a:t>
            </a:r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1400" y="274320"/>
            <a:ext cx="640080" cy="640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00800"/>
            <a:ext cx="6400800" cy="3200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5B6478"/>
                </a:solidFill>
                <a:latin typeface="Arial"/>
              </a:rPr>
              <a:t>JarCube AI Assistant  ×  myKONE  |  v3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/>
            <a:r>
              <a:rPr sz="1000" b="0" i="0">
                <a:solidFill>
                  <a:srgbClr val="5B6478"/>
                </a:solidFill>
                <a:latin typeface="Arial"/>
              </a:rP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554480"/>
            <a:ext cx="3520440" cy="3566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FFC9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554480"/>
            <a:ext cx="3337560" cy="73152"/>
          </a:xfrm>
          <a:prstGeom prst="rect">
            <a:avLst/>
          </a:prstGeom>
          <a:solidFill>
            <a:srgbClr val="E539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737360"/>
            <a:ext cx="3200400" cy="4114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900" b="1" i="0">
                <a:solidFill>
                  <a:srgbClr val="E5391A"/>
                </a:solidFill>
                <a:latin typeface="Arial"/>
              </a:rPr>
              <a:t>Finding things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148840"/>
            <a:ext cx="3200400" cy="3200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0" i="1">
                <a:solidFill>
                  <a:srgbClr val="5B6478"/>
                </a:solidFill>
                <a:latin typeface="Arial"/>
              </a:rPr>
              <a:t>Raised by: Smart Assist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606040"/>
            <a:ext cx="3200400" cy="24688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00" b="0" i="0">
                <a:solidFill>
                  <a:srgbClr val="141414"/>
                </a:solidFill>
                <a:latin typeface="Arial"/>
              </a:rPr>
              <a:t>•  Customers don't always know what is in myKONE, where it is or how to use it.</a:t>
            </a:r>
          </a:p>
          <a:p>
            <a:pPr algn="l"/>
            <a:r>
              <a:rPr sz="1300" b="0" i="0">
                <a:solidFill>
                  <a:srgbClr val="141414"/>
                </a:solidFill>
                <a:latin typeface="Arial"/>
              </a:rPr>
              <a:t>•  A simple question becomes a search across pages, or a call to KONE.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79" y="1554480"/>
            <a:ext cx="3520440" cy="3566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FFC9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89119" y="1554480"/>
            <a:ext cx="3337560" cy="73152"/>
          </a:xfrm>
          <a:prstGeom prst="rect">
            <a:avLst/>
          </a:prstGeom>
          <a:solidFill>
            <a:srgbClr val="E539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0559" y="1737360"/>
            <a:ext cx="3200400" cy="4114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900" b="1" i="0">
                <a:solidFill>
                  <a:srgbClr val="E5391A"/>
                </a:solidFill>
                <a:latin typeface="Arial"/>
              </a:rPr>
              <a:t>Tracking projects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59" y="2148840"/>
            <a:ext cx="3200400" cy="3200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0" i="1">
                <a:solidFill>
                  <a:srgbClr val="5B6478"/>
                </a:solidFill>
                <a:latin typeface="Arial"/>
              </a:rPr>
              <a:t>Raised by: Delivery &amp; Operations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59" y="2606040"/>
            <a:ext cx="3200400" cy="24688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00" b="0" i="0">
                <a:solidFill>
                  <a:srgbClr val="141414"/>
                </a:solidFill>
                <a:latin typeface="Arial"/>
              </a:rPr>
              <a:t>•  Status is spread over sales orders, screens and long milestone texts.</a:t>
            </a:r>
          </a:p>
          <a:p>
            <a:pPr algn="l"/>
            <a:r>
              <a:rPr sz="1300" b="0" i="0">
                <a:solidFill>
                  <a:srgbClr val="141414"/>
                </a:solidFill>
                <a:latin typeface="Arial"/>
              </a:rPr>
              <a:t>•  Customer actions get missed and block the next milestone.</a:t>
            </a:r>
          </a:p>
          <a:p>
            <a:pPr algn="l"/>
            <a:r>
              <a:rPr sz="1300" b="0" i="0">
                <a:solidFill>
                  <a:srgbClr val="141414"/>
                </a:solidFill>
                <a:latin typeface="Arial"/>
              </a:rPr>
              <a:t>•  Delivery and service use different flows.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19" y="1554480"/>
            <a:ext cx="3520440" cy="3566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FFC9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38159" y="1554480"/>
            <a:ext cx="3337560" cy="73152"/>
          </a:xfrm>
          <a:prstGeom prst="rect">
            <a:avLst/>
          </a:prstGeom>
          <a:solidFill>
            <a:srgbClr val="E539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599" y="1737360"/>
            <a:ext cx="3200400" cy="4114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900" b="1" i="0">
                <a:solidFill>
                  <a:srgbClr val="E5391A"/>
                </a:solidFill>
                <a:latin typeface="Arial"/>
              </a:rPr>
              <a:t>Getting help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599" y="2148840"/>
            <a:ext cx="3200400" cy="3200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0" i="1">
                <a:solidFill>
                  <a:srgbClr val="5B6478"/>
                </a:solidFill>
                <a:latin typeface="Arial"/>
              </a:rPr>
              <a:t>Raised by: Support / Tenders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599" y="2606040"/>
            <a:ext cx="3200400" cy="24688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00" b="0" i="0">
                <a:solidFill>
                  <a:srgbClr val="141414"/>
                </a:solidFill>
                <a:latin typeface="Arial"/>
              </a:rPr>
              <a:t>•  Every question needs a call or an email.</a:t>
            </a:r>
          </a:p>
          <a:p>
            <a:pPr algn="l"/>
            <a:r>
              <a:rPr sz="1300" b="0" i="0">
                <a:solidFill>
                  <a:srgbClr val="141414"/>
                </a:solidFill>
                <a:latin typeface="Arial"/>
              </a:rPr>
              <a:t>•  Tickets wait hours to days; specialists answer the same questions all day.</a:t>
            </a:r>
          </a:p>
          <a:p>
            <a:pPr algn="l"/>
            <a:r>
              <a:rPr sz="1300" b="0" i="0">
                <a:solidFill>
                  <a:srgbClr val="141414"/>
                </a:solidFill>
                <a:latin typeface="Arial"/>
              </a:rPr>
              <a:t>•  Help is only available in office hours.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394960"/>
            <a:ext cx="11109960" cy="777240"/>
          </a:xfrm>
          <a:prstGeom prst="roundRect">
            <a:avLst>
              <a:gd name="adj" fmla="val 15000"/>
            </a:avLst>
          </a:prstGeom>
          <a:solidFill>
            <a:srgbClr val="132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0" i="0">
                <a:solidFill>
                  <a:srgbClr val="FFFFFF"/>
                </a:solidFill>
                <a:latin typeface="Arial"/>
              </a:rPr>
              <a:t>The result: slower projects, more calls and emails, and specialists spending time on routine questions instead of high-value work.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5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875520" cy="6400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600" b="1" i="0">
                <a:solidFill>
                  <a:srgbClr val="13234A"/>
                </a:solidFill>
                <a:latin typeface="Arial"/>
              </a:rPr>
              <a:t>One assistant on every page, four pillars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241280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500" b="0" i="0">
                <a:solidFill>
                  <a:srgbClr val="5B6478"/>
                </a:solidFill>
                <a:latin typeface="Arial"/>
              </a:rPr>
              <a:t>A floating chat that knows the portal and knows the customer's own data</a:t>
            </a:r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1400" y="274320"/>
            <a:ext cx="640080" cy="640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00800"/>
            <a:ext cx="6400800" cy="3200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5B6478"/>
                </a:solidFill>
                <a:latin typeface="Arial"/>
              </a:rPr>
              <a:t>JarCube AI Assistant  ×  myKONE  |  v3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/>
            <a:r>
              <a:rPr sz="1000" b="0" i="0">
                <a:solidFill>
                  <a:srgbClr val="5B6478"/>
                </a:solidFill>
                <a:latin typeface="Arial"/>
              </a:rPr>
              <a:t>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554480"/>
            <a:ext cx="2651760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9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1554480"/>
            <a:ext cx="2651760" cy="822960"/>
          </a:xfrm>
          <a:prstGeom prst="roundRect">
            <a:avLst>
              <a:gd name="adj" fmla="val 10000"/>
            </a:avLst>
          </a:prstGeom>
          <a:solidFill>
            <a:srgbClr val="145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2000" b="1" i="0">
                <a:solidFill>
                  <a:srgbClr val="FFFFFF"/>
                </a:solidFill>
                <a:latin typeface="Arial"/>
              </a:rPr>
              <a:t>KNOW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514600"/>
            <a:ext cx="237744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400" b="1" i="0">
                <a:solidFill>
                  <a:srgbClr val="13234A"/>
                </a:solidFill>
                <a:latin typeface="Arial"/>
              </a:rPr>
              <a:t>Portal guidance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017520"/>
            <a:ext cx="2377440" cy="2651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00" b="0" i="0">
                <a:solidFill>
                  <a:srgbClr val="141414"/>
                </a:solidFill>
                <a:latin typeface="Arial"/>
              </a:rPr>
              <a:t>✓  How-to: users, invoices, reports</a:t>
            </a:r>
          </a:p>
          <a:p>
            <a:pPr algn="l"/>
            <a:r>
              <a:rPr sz="1300" b="0" i="0">
                <a:solidFill>
                  <a:srgbClr val="141414"/>
                </a:solidFill>
                <a:latin typeface="Arial"/>
              </a:rPr>
              <a:t>✓  What a status means</a:t>
            </a:r>
          </a:p>
          <a:p>
            <a:pPr algn="l"/>
            <a:r>
              <a:rPr sz="1300" b="0" i="0">
                <a:solidFill>
                  <a:srgbClr val="141414"/>
                </a:solidFill>
                <a:latin typeface="Arial"/>
              </a:rPr>
              <a:t>✓  Process &amp; timelines</a:t>
            </a:r>
          </a:p>
          <a:p>
            <a:pPr algn="l"/>
            <a:r>
              <a:rPr sz="1300" b="0" i="0">
                <a:solidFill>
                  <a:srgbClr val="141414"/>
                </a:solidFill>
                <a:latin typeface="Arial"/>
              </a:rPr>
              <a:t>✓  Trusted, approved content only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64992" y="1554480"/>
            <a:ext cx="2651760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9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364992" y="1554480"/>
            <a:ext cx="2651760" cy="822960"/>
          </a:xfrm>
          <a:prstGeom prst="roundRect">
            <a:avLst>
              <a:gd name="adj" fmla="val 10000"/>
            </a:avLst>
          </a:prstGeom>
          <a:solidFill>
            <a:srgbClr val="224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2000" b="1" i="0">
                <a:solidFill>
                  <a:srgbClr val="FFFFFF"/>
                </a:solidFill>
                <a:latin typeface="Arial"/>
              </a:rPr>
              <a:t>TRACK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02152" y="2514600"/>
            <a:ext cx="237744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400" b="1" i="0">
                <a:solidFill>
                  <a:srgbClr val="13234A"/>
                </a:solidFill>
                <a:latin typeface="Arial"/>
              </a:rPr>
              <a:t>The customer's own 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47872" y="3017520"/>
            <a:ext cx="2377440" cy="2651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00" b="0" i="0">
                <a:solidFill>
                  <a:srgbClr val="141414"/>
                </a:solidFill>
                <a:latin typeface="Arial"/>
              </a:rPr>
              <a:t>✓  Delivery milestones</a:t>
            </a:r>
          </a:p>
          <a:p>
            <a:pPr algn="l"/>
            <a:r>
              <a:rPr sz="1300" b="0" i="0">
                <a:solidFill>
                  <a:srgbClr val="141414"/>
                </a:solidFill>
                <a:latin typeface="Arial"/>
              </a:rPr>
              <a:t>✓  Equipment status &amp; visits</a:t>
            </a:r>
          </a:p>
          <a:p>
            <a:pPr algn="l"/>
            <a:r>
              <a:rPr sz="1300" b="0" i="0">
                <a:solidFill>
                  <a:srgbClr val="141414"/>
                </a:solidFill>
                <a:latin typeface="Arial"/>
              </a:rPr>
              <a:t>✓  Tenders, reports, invoices</a:t>
            </a:r>
          </a:p>
          <a:p>
            <a:pPr algn="l"/>
            <a:r>
              <a:rPr sz="1300" b="0" i="0">
                <a:solidFill>
                  <a:srgbClr val="141414"/>
                </a:solidFill>
                <a:latin typeface="Arial"/>
              </a:rPr>
              <a:t>✓  All equipment in one answer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81344" y="1554480"/>
            <a:ext cx="2651760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9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181344" y="1554480"/>
            <a:ext cx="2651760" cy="822960"/>
          </a:xfrm>
          <a:prstGeom prst="roundRect">
            <a:avLst>
              <a:gd name="adj" fmla="val 10000"/>
            </a:avLst>
          </a:prstGeom>
          <a:solidFill>
            <a:srgbClr val="03A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2000" b="1" i="0">
                <a:solidFill>
                  <a:srgbClr val="FFFFFF"/>
                </a:solidFill>
                <a:latin typeface="Arial"/>
              </a:rPr>
              <a:t>ACT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18504" y="2514600"/>
            <a:ext cx="237744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400" b="1" i="0">
                <a:solidFill>
                  <a:srgbClr val="13234A"/>
                </a:solidFill>
                <a:latin typeface="Arial"/>
              </a:rPr>
              <a:t>What to do next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64224" y="3017520"/>
            <a:ext cx="2377440" cy="2651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00" b="0" i="0">
                <a:solidFill>
                  <a:srgbClr val="141414"/>
                </a:solidFill>
                <a:latin typeface="Arial"/>
              </a:rPr>
              <a:t>✓  Open customer tasks</a:t>
            </a:r>
          </a:p>
          <a:p>
            <a:pPr algn="l"/>
            <a:r>
              <a:rPr sz="1300" b="0" i="0">
                <a:solidFill>
                  <a:srgbClr val="141414"/>
                </a:solidFill>
                <a:latin typeface="Arial"/>
              </a:rPr>
              <a:t>✓  Due dates &amp; impact</a:t>
            </a:r>
          </a:p>
          <a:p>
            <a:pPr algn="l"/>
            <a:r>
              <a:rPr sz="1300" b="0" i="0">
                <a:solidFill>
                  <a:srgbClr val="141414"/>
                </a:solidFill>
                <a:latin typeface="Arial"/>
              </a:rPr>
              <a:t>✓  One-click link to the right page</a:t>
            </a:r>
          </a:p>
          <a:p>
            <a:pPr algn="l"/>
            <a:r>
              <a:rPr sz="1300" b="0" i="0">
                <a:solidFill>
                  <a:srgbClr val="141414"/>
                </a:solidFill>
                <a:latin typeface="Arial"/>
              </a:rPr>
              <a:t>✓  Nothing is missed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97696" y="1554480"/>
            <a:ext cx="2651760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9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997696" y="1554480"/>
            <a:ext cx="2651760" cy="822960"/>
          </a:xfrm>
          <a:prstGeom prst="roundRect">
            <a:avLst>
              <a:gd name="adj" fmla="val 10000"/>
            </a:avLst>
          </a:prstGeom>
          <a:solidFill>
            <a:srgbClr val="2EA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2000" b="1" i="0">
                <a:solidFill>
                  <a:srgbClr val="FFFFFF"/>
                </a:solidFill>
                <a:latin typeface="Arial"/>
              </a:rPr>
              <a:t>HAND OVER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34856" y="2514600"/>
            <a:ext cx="237744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400" b="1" i="0">
                <a:solidFill>
                  <a:srgbClr val="13234A"/>
                </a:solidFill>
                <a:latin typeface="Arial"/>
              </a:rPr>
              <a:t>People when needed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80576" y="3017520"/>
            <a:ext cx="2377440" cy="2651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00" b="0" i="0">
                <a:solidFill>
                  <a:srgbClr val="141414"/>
                </a:solidFill>
                <a:latin typeface="Arial"/>
              </a:rPr>
              <a:t>✓  Specialist takes over the chat</a:t>
            </a:r>
          </a:p>
          <a:p>
            <a:pPr algn="l"/>
            <a:r>
              <a:rPr sz="1300" b="0" i="0">
                <a:solidFill>
                  <a:srgbClr val="141414"/>
                </a:solidFill>
                <a:latin typeface="Arial"/>
              </a:rPr>
              <a:t>✓  Ticket with full chat history</a:t>
            </a:r>
          </a:p>
          <a:p>
            <a:pPr algn="l"/>
            <a:r>
              <a:rPr sz="1300" b="0" i="0">
                <a:solidFill>
                  <a:srgbClr val="141414"/>
                </a:solidFill>
                <a:latin typeface="Arial"/>
              </a:rPr>
              <a:t>✓  Emergencies go straight to KONE</a:t>
            </a:r>
          </a:p>
          <a:p>
            <a:pPr algn="l"/>
            <a:r>
              <a:rPr sz="1300" b="0" i="0">
                <a:solidFill>
                  <a:srgbClr val="141414"/>
                </a:solidFill>
                <a:latin typeface="Arial"/>
              </a:rPr>
              <a:t>✓  Bot learns from gaps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5897880"/>
            <a:ext cx="11109960" cy="411480"/>
          </a:xfrm>
          <a:prstGeom prst="roundRect">
            <a:avLst>
              <a:gd name="adj" fmla="val 15000"/>
            </a:avLst>
          </a:prstGeom>
          <a:solidFill>
            <a:srgbClr val="E7ED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0" i="0">
                <a:solidFill>
                  <a:srgbClr val="13234A"/>
                </a:solidFill>
                <a:latin typeface="Arial"/>
              </a:rPr>
              <a:t>Know = Smart Assist   ·   Track + Act = Team DOD   ·   Know + Track + Hand over = Round 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5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875520" cy="6400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600" b="1" i="0">
                <a:solidFill>
                  <a:srgbClr val="13234A"/>
                </a:solidFill>
                <a:latin typeface="Arial"/>
              </a:rPr>
              <a:t>One pattern: STATUS → NEXT → ACTION →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241280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500" b="0" i="0">
                <a:solidFill>
                  <a:srgbClr val="5B6478"/>
                </a:solidFill>
                <a:latin typeface="Arial"/>
              </a:rPr>
              <a:t>Developed by Team DOD for delivery, reused across the whole portal</a:t>
            </a:r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1400" y="274320"/>
            <a:ext cx="640080" cy="640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00800"/>
            <a:ext cx="6400800" cy="3200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5B6478"/>
                </a:solidFill>
                <a:latin typeface="Arial"/>
              </a:rPr>
              <a:t>JarCube AI Assistant  ×  myKONE  |  v3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/>
            <a:r>
              <a:rPr sz="1000" b="0" i="0">
                <a:solidFill>
                  <a:srgbClr val="5B6478"/>
                </a:solidFill>
                <a:latin typeface="Arial"/>
              </a:rPr>
              <a:t>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63040"/>
            <a:ext cx="2606040" cy="868680"/>
          </a:xfrm>
          <a:prstGeom prst="roundRect">
            <a:avLst>
              <a:gd name="adj" fmla="val 15000"/>
            </a:avLst>
          </a:prstGeom>
          <a:solidFill>
            <a:srgbClr val="145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STATUS</a:t>
            </a:r>
          </a:p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Where is it now?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172968" y="1892807"/>
            <a:ext cx="173736" cy="0"/>
          </a:xfrm>
          <a:prstGeom prst="line">
            <a:avLst/>
          </a:prstGeom>
          <a:ln w="31750">
            <a:solidFill>
              <a:srgbClr val="1450F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364992" y="1463040"/>
            <a:ext cx="2606040" cy="868680"/>
          </a:xfrm>
          <a:prstGeom prst="roundRect">
            <a:avLst>
              <a:gd name="adj" fmla="val 15000"/>
            </a:avLst>
          </a:prstGeom>
          <a:solidFill>
            <a:srgbClr val="224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NEXT</a:t>
            </a:r>
          </a:p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What happens next?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989320" y="1892807"/>
            <a:ext cx="173736" cy="0"/>
          </a:xfrm>
          <a:prstGeom prst="line">
            <a:avLst/>
          </a:prstGeom>
          <a:ln w="31750">
            <a:solidFill>
              <a:srgbClr val="1450F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181344" y="1463040"/>
            <a:ext cx="2606040" cy="868680"/>
          </a:xfrm>
          <a:prstGeom prst="roundRect">
            <a:avLst>
              <a:gd name="adj" fmla="val 15000"/>
            </a:avLst>
          </a:prstGeom>
          <a:solidFill>
            <a:srgbClr val="03A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ACTION</a:t>
            </a:r>
          </a:p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What do I need to do?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805672" y="1892807"/>
            <a:ext cx="173736" cy="0"/>
          </a:xfrm>
          <a:prstGeom prst="line">
            <a:avLst/>
          </a:prstGeom>
          <a:ln w="31750">
            <a:solidFill>
              <a:srgbClr val="1450F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8997696" y="1463040"/>
            <a:ext cx="2606040" cy="868680"/>
          </a:xfrm>
          <a:prstGeom prst="roundRect">
            <a:avLst>
              <a:gd name="adj" fmla="val 15000"/>
            </a:avLst>
          </a:prstGeom>
          <a:solidFill>
            <a:srgbClr val="FF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 i="0">
                <a:solidFill>
                  <a:srgbClr val="13234A"/>
                </a:solidFill>
                <a:latin typeface="Arial"/>
              </a:rPr>
              <a:t>IMPACT</a:t>
            </a:r>
          </a:p>
          <a:p>
            <a:pPr algn="ctr"/>
            <a:r>
              <a:rPr sz="1400" b="1" i="0">
                <a:solidFill>
                  <a:srgbClr val="13234A"/>
                </a:solidFill>
                <a:latin typeface="Arial"/>
              </a:rPr>
              <a:t>What if I don't?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606040"/>
            <a:ext cx="1554480" cy="548640"/>
          </a:xfrm>
          <a:prstGeom prst="rect">
            <a:avLst/>
          </a:prstGeom>
          <a:solidFill>
            <a:srgbClr val="132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2606040"/>
            <a:ext cx="1554480" cy="5486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Area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103120" y="2606040"/>
            <a:ext cx="2377440" cy="548640"/>
          </a:xfrm>
          <a:prstGeom prst="rect">
            <a:avLst/>
          </a:prstGeom>
          <a:solidFill>
            <a:srgbClr val="132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03120" y="2606040"/>
            <a:ext cx="2377440" cy="5486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Status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60" y="2606040"/>
            <a:ext cx="2377440" cy="548640"/>
          </a:xfrm>
          <a:prstGeom prst="rect">
            <a:avLst/>
          </a:prstGeom>
          <a:solidFill>
            <a:srgbClr val="132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80560" y="2606040"/>
            <a:ext cx="2377440" cy="5486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Next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0" y="2606040"/>
            <a:ext cx="2468880" cy="548640"/>
          </a:xfrm>
          <a:prstGeom prst="rect">
            <a:avLst/>
          </a:prstGeom>
          <a:solidFill>
            <a:srgbClr val="132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0" y="2606040"/>
            <a:ext cx="2468880" cy="5486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Action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326880" y="2606040"/>
            <a:ext cx="2331720" cy="548640"/>
          </a:xfrm>
          <a:prstGeom prst="rect">
            <a:avLst/>
          </a:prstGeom>
          <a:solidFill>
            <a:srgbClr val="132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26880" y="2606040"/>
            <a:ext cx="2331720" cy="5486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Impact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3154680"/>
            <a:ext cx="1554480" cy="548640"/>
          </a:xfrm>
          <a:prstGeom prst="rect">
            <a:avLst/>
          </a:prstGeom>
          <a:solidFill>
            <a:srgbClr val="F5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3154680"/>
            <a:ext cx="1554480" cy="5486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100" b="1" i="0">
                <a:solidFill>
                  <a:srgbClr val="13234A"/>
                </a:solidFill>
                <a:latin typeface="Arial"/>
              </a:rPr>
              <a:t>Delivery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103120" y="3154680"/>
            <a:ext cx="2377440" cy="548640"/>
          </a:xfrm>
          <a:prstGeom prst="rect">
            <a:avLst/>
          </a:prstGeom>
          <a:solidFill>
            <a:srgbClr val="F5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103120" y="3154680"/>
            <a:ext cx="2377440" cy="5486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100" b="0" i="0">
                <a:solidFill>
                  <a:srgbClr val="141414"/>
                </a:solidFill>
                <a:latin typeface="Arial"/>
              </a:rPr>
              <a:t>Production started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480560" y="3154680"/>
            <a:ext cx="2377440" cy="548640"/>
          </a:xfrm>
          <a:prstGeom prst="rect">
            <a:avLst/>
          </a:prstGeom>
          <a:solidFill>
            <a:srgbClr val="F5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80560" y="3154680"/>
            <a:ext cx="2377440" cy="5486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100" b="0" i="0">
                <a:solidFill>
                  <a:srgbClr val="141414"/>
                </a:solidFill>
                <a:latin typeface="Arial"/>
              </a:rPr>
              <a:t>Shipment, est. 4 Nov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858000" y="3154680"/>
            <a:ext cx="2468880" cy="548640"/>
          </a:xfrm>
          <a:prstGeom prst="rect">
            <a:avLst/>
          </a:prstGeom>
          <a:solidFill>
            <a:srgbClr val="F5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0" y="3154680"/>
            <a:ext cx="2468880" cy="5486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100" b="0" i="0">
                <a:solidFill>
                  <a:srgbClr val="141414"/>
                </a:solidFill>
                <a:latin typeface="Arial"/>
              </a:rPr>
              <a:t>Confirm installation &amp; handover dates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326880" y="3154680"/>
            <a:ext cx="2331720" cy="548640"/>
          </a:xfrm>
          <a:prstGeom prst="rect">
            <a:avLst/>
          </a:prstGeom>
          <a:solidFill>
            <a:srgbClr val="F5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326880" y="3154680"/>
            <a:ext cx="2331720" cy="5486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100" b="0" i="0">
                <a:solidFill>
                  <a:srgbClr val="141414"/>
                </a:solidFill>
                <a:latin typeface="Arial"/>
              </a:rPr>
              <a:t>Installation slot at risk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3703320"/>
            <a:ext cx="155448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3703320"/>
            <a:ext cx="1554480" cy="5486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100" b="1" i="0">
                <a:solidFill>
                  <a:srgbClr val="13234A"/>
                </a:solidFill>
                <a:latin typeface="Arial"/>
              </a:rPr>
              <a:t>Equipment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103120" y="3703320"/>
            <a:ext cx="237744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103120" y="3703320"/>
            <a:ext cx="2377440" cy="5486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100" b="0" i="0">
                <a:solidFill>
                  <a:srgbClr val="141414"/>
                </a:solidFill>
                <a:latin typeface="Arial"/>
              </a:rPr>
              <a:t>Out of service, technician on the way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480560" y="3703320"/>
            <a:ext cx="237744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480560" y="3703320"/>
            <a:ext cx="2377440" cy="5486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100" b="0" i="0">
                <a:solidFill>
                  <a:srgbClr val="141414"/>
                </a:solidFill>
                <a:latin typeface="Arial"/>
              </a:rPr>
              <a:t>Visit today 14:00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858000" y="3703320"/>
            <a:ext cx="246888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58000" y="3703320"/>
            <a:ext cx="2468880" cy="5486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100" b="0" i="0">
                <a:solidFill>
                  <a:srgbClr val="141414"/>
                </a:solidFill>
                <a:latin typeface="Arial"/>
              </a:rPr>
              <a:t>None, KONE is on it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326880" y="3703320"/>
            <a:ext cx="233172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326880" y="3703320"/>
            <a:ext cx="2331720" cy="5486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100" b="0" i="0">
                <a:solidFill>
                  <a:srgbClr val="141414"/>
                </a:solidFill>
                <a:latin typeface="Arial"/>
              </a:rPr>
              <a:t>Restored after repair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48640" y="4251960"/>
            <a:ext cx="1554480" cy="548640"/>
          </a:xfrm>
          <a:prstGeom prst="rect">
            <a:avLst/>
          </a:prstGeom>
          <a:solidFill>
            <a:srgbClr val="F5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48640" y="4251960"/>
            <a:ext cx="1554480" cy="5486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100" b="1" i="0">
                <a:solidFill>
                  <a:srgbClr val="13234A"/>
                </a:solidFill>
                <a:latin typeface="Arial"/>
              </a:rPr>
              <a:t>Tenders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103120" y="4251960"/>
            <a:ext cx="2377440" cy="548640"/>
          </a:xfrm>
          <a:prstGeom prst="rect">
            <a:avLst/>
          </a:prstGeom>
          <a:solidFill>
            <a:srgbClr val="F5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103120" y="4251960"/>
            <a:ext cx="2377440" cy="5486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100" b="0" i="0">
                <a:solidFill>
                  <a:srgbClr val="141414"/>
                </a:solidFill>
                <a:latin typeface="Arial"/>
              </a:rPr>
              <a:t>Waiting for PO number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480560" y="4251960"/>
            <a:ext cx="2377440" cy="548640"/>
          </a:xfrm>
          <a:prstGeom prst="rect">
            <a:avLst/>
          </a:prstGeom>
          <a:solidFill>
            <a:srgbClr val="F5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480560" y="4251960"/>
            <a:ext cx="2377440" cy="5486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100" b="0" i="0">
                <a:solidFill>
                  <a:srgbClr val="141414"/>
                </a:solidFill>
                <a:latin typeface="Arial"/>
              </a:rPr>
              <a:t>Work can be scheduled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858000" y="4251960"/>
            <a:ext cx="2468880" cy="548640"/>
          </a:xfrm>
          <a:prstGeom prst="rect">
            <a:avLst/>
          </a:prstGeom>
          <a:solidFill>
            <a:srgbClr val="F5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858000" y="4251960"/>
            <a:ext cx="2468880" cy="5486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100" b="0" i="0">
                <a:solidFill>
                  <a:srgbClr val="141414"/>
                </a:solidFill>
                <a:latin typeface="Arial"/>
              </a:rPr>
              <a:t>Add PO number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326880" y="4251960"/>
            <a:ext cx="2331720" cy="548640"/>
          </a:xfrm>
          <a:prstGeom prst="rect">
            <a:avLst/>
          </a:prstGeom>
          <a:solidFill>
            <a:srgbClr val="F5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326880" y="4251960"/>
            <a:ext cx="2331720" cy="5486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100" b="0" i="0">
                <a:solidFill>
                  <a:srgbClr val="141414"/>
                </a:solidFill>
                <a:latin typeface="Arial"/>
              </a:rPr>
              <a:t>Repair can't be planned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48640" y="4800600"/>
            <a:ext cx="155448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48640" y="4800600"/>
            <a:ext cx="1554480" cy="5486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100" b="1" i="0">
                <a:solidFill>
                  <a:srgbClr val="13234A"/>
                </a:solidFill>
                <a:latin typeface="Arial"/>
              </a:rPr>
              <a:t>Reports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103120" y="4800600"/>
            <a:ext cx="237744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103120" y="4800600"/>
            <a:ext cx="2377440" cy="5486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100" b="0" i="0">
                <a:solidFill>
                  <a:srgbClr val="141414"/>
                </a:solidFill>
                <a:latin typeface="Arial"/>
              </a:rPr>
              <a:t>1 safety issue open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480560" y="4800600"/>
            <a:ext cx="237744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480560" y="4800600"/>
            <a:ext cx="2377440" cy="5486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100" b="0" i="0">
                <a:solidFill>
                  <a:srgbClr val="141414"/>
                </a:solidFill>
                <a:latin typeface="Arial"/>
              </a:rPr>
              <a:t>Repair tender pending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858000" y="4800600"/>
            <a:ext cx="246888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858000" y="4800600"/>
            <a:ext cx="2468880" cy="5486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100" b="0" i="0">
                <a:solidFill>
                  <a:srgbClr val="141414"/>
                </a:solidFill>
                <a:latin typeface="Arial"/>
              </a:rPr>
              <a:t>Review &amp; approve tender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326880" y="4800600"/>
            <a:ext cx="233172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326880" y="4800600"/>
            <a:ext cx="2331720" cy="5486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100" b="0" i="0">
                <a:solidFill>
                  <a:srgbClr val="141414"/>
                </a:solidFill>
                <a:latin typeface="Arial"/>
              </a:rPr>
              <a:t>Finding stays open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48640" y="5349240"/>
            <a:ext cx="1554480" cy="548640"/>
          </a:xfrm>
          <a:prstGeom prst="rect">
            <a:avLst/>
          </a:prstGeom>
          <a:solidFill>
            <a:srgbClr val="F5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48640" y="5349240"/>
            <a:ext cx="1554480" cy="5486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100" b="1" i="0">
                <a:solidFill>
                  <a:srgbClr val="13234A"/>
                </a:solidFill>
                <a:latin typeface="Arial"/>
              </a:rPr>
              <a:t>Invoices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103120" y="5349240"/>
            <a:ext cx="2377440" cy="548640"/>
          </a:xfrm>
          <a:prstGeom prst="rect">
            <a:avLst/>
          </a:prstGeom>
          <a:solidFill>
            <a:srgbClr val="F5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103120" y="5349240"/>
            <a:ext cx="2377440" cy="5486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100" b="0" i="0">
                <a:solidFill>
                  <a:srgbClr val="141414"/>
                </a:solidFill>
                <a:latin typeface="Arial"/>
              </a:rPr>
              <a:t>1 invoice overdue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480560" y="5349240"/>
            <a:ext cx="2377440" cy="548640"/>
          </a:xfrm>
          <a:prstGeom prst="rect">
            <a:avLst/>
          </a:prstGeom>
          <a:solidFill>
            <a:srgbClr val="F5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480560" y="5349240"/>
            <a:ext cx="2377440" cy="5486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100" b="0" i="0">
                <a:solidFill>
                  <a:srgbClr val="141414"/>
                </a:solidFill>
                <a:latin typeface="Arial"/>
              </a:rPr>
              <a:t>Payment reminder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858000" y="5349240"/>
            <a:ext cx="2468880" cy="548640"/>
          </a:xfrm>
          <a:prstGeom prst="rect">
            <a:avLst/>
          </a:prstGeom>
          <a:solidFill>
            <a:srgbClr val="F5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858000" y="5349240"/>
            <a:ext cx="2468880" cy="5486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100" b="0" i="0">
                <a:solidFill>
                  <a:srgbClr val="141414"/>
                </a:solidFill>
                <a:latin typeface="Arial"/>
              </a:rPr>
              <a:t>Pay or contact KONE</a:t>
            </a:r>
          </a:p>
        </p:txBody>
      </p:sp>
      <p:sp>
        <p:nvSpPr>
          <p:cNvPr id="73" name="Rectangle 72"/>
          <p:cNvSpPr/>
          <p:nvPr/>
        </p:nvSpPr>
        <p:spPr>
          <a:xfrm>
            <a:off x="9326880" y="5349240"/>
            <a:ext cx="2331720" cy="548640"/>
          </a:xfrm>
          <a:prstGeom prst="rect">
            <a:avLst/>
          </a:prstGeom>
          <a:solidFill>
            <a:srgbClr val="F5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9326880" y="5349240"/>
            <a:ext cx="2331720" cy="54864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100" b="0" i="0">
                <a:solidFill>
                  <a:srgbClr val="141414"/>
                </a:solidFill>
                <a:latin typeface="Arial"/>
              </a:rPr>
              <a:t>Per contract terms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48640" y="5943600"/>
            <a:ext cx="1097280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0" i="1">
                <a:solidFill>
                  <a:srgbClr val="5B6478"/>
                </a:solidFill>
                <a:latin typeface="Arial"/>
              </a:rPr>
              <a:t>Status and next step come from myKONE data. The assistant presents them; it does not guess dates.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5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875520" cy="6400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600" b="1" i="0">
                <a:solidFill>
                  <a:srgbClr val="13234A"/>
                </a:solidFill>
                <a:latin typeface="Arial"/>
              </a:rPr>
              <a:t>Use case 1 · Track: “Where is my elevator?”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241280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500" b="0" i="0">
                <a:solidFill>
                  <a:srgbClr val="5B6478"/>
                </a:solidFill>
                <a:latin typeface="Arial"/>
              </a:rPr>
              <a:t>Delivery status, next milestone and the customer's open tasks in one answer</a:t>
            </a:r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1400" y="274320"/>
            <a:ext cx="640080" cy="640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00800"/>
            <a:ext cx="6400800" cy="3200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5B6478"/>
                </a:solidFill>
                <a:latin typeface="Arial"/>
              </a:rPr>
              <a:t>JarCube AI Assistant  ×  myKONE  |  v3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/>
            <a:r>
              <a:rPr sz="1000" b="0" i="0">
                <a:solidFill>
                  <a:srgbClr val="5B6478"/>
                </a:solidFill>
                <a:latin typeface="Arial"/>
              </a:rPr>
              <a:t>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63040"/>
            <a:ext cx="6583680" cy="4800600"/>
          </a:xfrm>
          <a:prstGeom prst="roundRect">
            <a:avLst>
              <a:gd name="adj" fmla="val 2000"/>
            </a:avLst>
          </a:prstGeom>
          <a:solidFill>
            <a:srgbClr val="F5F8FF"/>
          </a:solidFill>
          <a:ln w="12700">
            <a:solidFill>
              <a:srgbClr val="C9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463040"/>
            <a:ext cx="6583680" cy="502920"/>
          </a:xfrm>
          <a:prstGeom prst="rect">
            <a:avLst/>
          </a:prstGeom>
          <a:solidFill>
            <a:srgbClr val="132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kone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591056"/>
            <a:ext cx="777240" cy="31219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691640" y="1581912"/>
            <a:ext cx="896112" cy="30175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DAE4FF"/>
                </a:solidFill>
                <a:latin typeface="Arial"/>
              </a:rPr>
              <a:t>Home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87752" y="1581912"/>
            <a:ext cx="896112" cy="30175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DAE4FF"/>
                </a:solidFill>
                <a:latin typeface="Arial"/>
              </a:rPr>
              <a:t>Equipment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83864" y="1581912"/>
            <a:ext cx="896112" cy="30175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rial"/>
              </a:rPr>
              <a:t>Delivery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57016" y="1901952"/>
            <a:ext cx="640080" cy="45720"/>
          </a:xfrm>
          <a:prstGeom prst="rect">
            <a:avLst/>
          </a:prstGeom>
          <a:solidFill>
            <a:srgbClr val="145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79976" y="1581912"/>
            <a:ext cx="896112" cy="30175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DAE4FF"/>
                </a:solidFill>
                <a:latin typeface="Arial"/>
              </a:rPr>
              <a:t>Tenders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76088" y="1581912"/>
            <a:ext cx="896112" cy="30175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DAE4FF"/>
                </a:solidFill>
                <a:latin typeface="Arial"/>
              </a:rPr>
              <a:t>Reports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2200" y="1581912"/>
            <a:ext cx="896112" cy="30175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DAE4FF"/>
                </a:solidFill>
                <a:latin typeface="Arial"/>
              </a:rPr>
              <a:t>Invoices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2103120"/>
            <a:ext cx="621792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3234A"/>
                </a:solidFill>
                <a:latin typeface="Arial"/>
              </a:rPr>
              <a:t>Project: Riverside Offices · Elevator 41234561</a:t>
            </a:r>
          </a:p>
        </p:txBody>
      </p:sp>
      <p:sp>
        <p:nvSpPr>
          <p:cNvPr id="19" name="Oval 18"/>
          <p:cNvSpPr/>
          <p:nvPr/>
        </p:nvSpPr>
        <p:spPr>
          <a:xfrm>
            <a:off x="914400" y="2624327"/>
            <a:ext cx="219456" cy="219456"/>
          </a:xfrm>
          <a:prstGeom prst="ellipse">
            <a:avLst/>
          </a:prstGeom>
          <a:solidFill>
            <a:srgbClr val="2EA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05840" y="2843784"/>
            <a:ext cx="36576" cy="146304"/>
          </a:xfrm>
          <a:prstGeom prst="rect">
            <a:avLst/>
          </a:prstGeom>
          <a:solidFill>
            <a:srgbClr val="C9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4440" y="2560320"/>
            <a:ext cx="2743200" cy="34747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100" b="0" i="0">
                <a:solidFill>
                  <a:srgbClr val="141414"/>
                </a:solidFill>
                <a:latin typeface="Arial"/>
              </a:rPr>
              <a:t>Order confirmed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0480" y="2560320"/>
            <a:ext cx="1097280" cy="34747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 i="0">
                <a:solidFill>
                  <a:srgbClr val="5B6478"/>
                </a:solidFill>
                <a:latin typeface="Arial"/>
              </a:rPr>
              <a:t>12 Jun</a:t>
            </a:r>
          </a:p>
        </p:txBody>
      </p:sp>
      <p:sp>
        <p:nvSpPr>
          <p:cNvPr id="23" name="Oval 22"/>
          <p:cNvSpPr/>
          <p:nvPr/>
        </p:nvSpPr>
        <p:spPr>
          <a:xfrm>
            <a:off x="914400" y="2990087"/>
            <a:ext cx="219456" cy="219456"/>
          </a:xfrm>
          <a:prstGeom prst="ellipse">
            <a:avLst/>
          </a:prstGeom>
          <a:solidFill>
            <a:srgbClr val="2EA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05840" y="3209544"/>
            <a:ext cx="36576" cy="146304"/>
          </a:xfrm>
          <a:prstGeom prst="rect">
            <a:avLst/>
          </a:prstGeom>
          <a:solidFill>
            <a:srgbClr val="C9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4440" y="2926079"/>
            <a:ext cx="2743200" cy="34747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100" b="0" i="0">
                <a:solidFill>
                  <a:srgbClr val="141414"/>
                </a:solidFill>
                <a:latin typeface="Arial"/>
              </a:rPr>
              <a:t>Drawings approved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40480" y="2926079"/>
            <a:ext cx="1097280" cy="34747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 i="0">
                <a:solidFill>
                  <a:srgbClr val="5B6478"/>
                </a:solidFill>
                <a:latin typeface="Arial"/>
              </a:rPr>
              <a:t>24 Sep</a:t>
            </a:r>
          </a:p>
        </p:txBody>
      </p:sp>
      <p:sp>
        <p:nvSpPr>
          <p:cNvPr id="27" name="Oval 26"/>
          <p:cNvSpPr/>
          <p:nvPr/>
        </p:nvSpPr>
        <p:spPr>
          <a:xfrm>
            <a:off x="914400" y="3355847"/>
            <a:ext cx="219456" cy="219456"/>
          </a:xfrm>
          <a:prstGeom prst="ellipse">
            <a:avLst/>
          </a:prstGeom>
          <a:solidFill>
            <a:srgbClr val="145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05840" y="3575303"/>
            <a:ext cx="36576" cy="146304"/>
          </a:xfrm>
          <a:prstGeom prst="rect">
            <a:avLst/>
          </a:prstGeom>
          <a:solidFill>
            <a:srgbClr val="C9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34440" y="3291839"/>
            <a:ext cx="2743200" cy="34747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100" b="1" i="0">
                <a:solidFill>
                  <a:srgbClr val="13234A"/>
                </a:solidFill>
                <a:latin typeface="Arial"/>
              </a:rPr>
              <a:t>Production started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40480" y="3291839"/>
            <a:ext cx="1097280" cy="34747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 i="0">
                <a:solidFill>
                  <a:srgbClr val="5B6478"/>
                </a:solidFill>
                <a:latin typeface="Arial"/>
              </a:rPr>
              <a:t>est. 10 Oct</a:t>
            </a:r>
          </a:p>
        </p:txBody>
      </p:sp>
      <p:sp>
        <p:nvSpPr>
          <p:cNvPr id="31" name="Oval 30"/>
          <p:cNvSpPr/>
          <p:nvPr/>
        </p:nvSpPr>
        <p:spPr>
          <a:xfrm>
            <a:off x="914400" y="3721608"/>
            <a:ext cx="219456" cy="219456"/>
          </a:xfrm>
          <a:prstGeom prst="ellipse">
            <a:avLst/>
          </a:prstGeom>
          <a:solidFill>
            <a:srgbClr val="C9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005840" y="3941063"/>
            <a:ext cx="36576" cy="146304"/>
          </a:xfrm>
          <a:prstGeom prst="rect">
            <a:avLst/>
          </a:prstGeom>
          <a:solidFill>
            <a:srgbClr val="C9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4440" y="3657600"/>
            <a:ext cx="2743200" cy="34747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100" b="0" i="0">
                <a:solidFill>
                  <a:srgbClr val="141414"/>
                </a:solidFill>
                <a:latin typeface="Arial"/>
              </a:rPr>
              <a:t>Equipment shipped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840480" y="3657600"/>
            <a:ext cx="1097280" cy="34747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 i="0">
                <a:solidFill>
                  <a:srgbClr val="5B6478"/>
                </a:solidFill>
                <a:latin typeface="Arial"/>
              </a:rPr>
              <a:t>est. 4 Nov</a:t>
            </a:r>
          </a:p>
        </p:txBody>
      </p:sp>
      <p:sp>
        <p:nvSpPr>
          <p:cNvPr id="35" name="Oval 34"/>
          <p:cNvSpPr/>
          <p:nvPr/>
        </p:nvSpPr>
        <p:spPr>
          <a:xfrm>
            <a:off x="914400" y="4087368"/>
            <a:ext cx="219456" cy="219456"/>
          </a:xfrm>
          <a:prstGeom prst="ellipse">
            <a:avLst/>
          </a:prstGeom>
          <a:solidFill>
            <a:srgbClr val="C9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005840" y="4306824"/>
            <a:ext cx="36576" cy="146304"/>
          </a:xfrm>
          <a:prstGeom prst="rect">
            <a:avLst/>
          </a:prstGeom>
          <a:solidFill>
            <a:srgbClr val="C9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34440" y="4023360"/>
            <a:ext cx="2743200" cy="34747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100" b="0" i="0">
                <a:solidFill>
                  <a:srgbClr val="141414"/>
                </a:solidFill>
                <a:latin typeface="Arial"/>
              </a:rPr>
              <a:t>Delivered to site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840480" y="4023360"/>
            <a:ext cx="1097280" cy="34747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 i="0">
                <a:solidFill>
                  <a:srgbClr val="5B6478"/>
                </a:solidFill>
                <a:latin typeface="Arial"/>
              </a:rPr>
              <a:t>est. 8 Nov</a:t>
            </a:r>
          </a:p>
        </p:txBody>
      </p:sp>
      <p:sp>
        <p:nvSpPr>
          <p:cNvPr id="39" name="Oval 38"/>
          <p:cNvSpPr/>
          <p:nvPr/>
        </p:nvSpPr>
        <p:spPr>
          <a:xfrm>
            <a:off x="914400" y="4453128"/>
            <a:ext cx="219456" cy="219456"/>
          </a:xfrm>
          <a:prstGeom prst="ellipse">
            <a:avLst/>
          </a:prstGeom>
          <a:solidFill>
            <a:srgbClr val="C9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005840" y="4672583"/>
            <a:ext cx="36576" cy="146304"/>
          </a:xfrm>
          <a:prstGeom prst="rect">
            <a:avLst/>
          </a:prstGeom>
          <a:solidFill>
            <a:srgbClr val="C9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234440" y="4389120"/>
            <a:ext cx="2743200" cy="34747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100" b="0" i="0">
                <a:solidFill>
                  <a:srgbClr val="141414"/>
                </a:solidFill>
                <a:latin typeface="Arial"/>
              </a:rPr>
              <a:t>Installation started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840480" y="4389120"/>
            <a:ext cx="1097280" cy="34747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 i="0">
                <a:solidFill>
                  <a:srgbClr val="5B6478"/>
                </a:solidFill>
                <a:latin typeface="Arial"/>
              </a:rPr>
              <a:t>est. 12 Nov</a:t>
            </a:r>
          </a:p>
        </p:txBody>
      </p:sp>
      <p:sp>
        <p:nvSpPr>
          <p:cNvPr id="43" name="Oval 42"/>
          <p:cNvSpPr/>
          <p:nvPr/>
        </p:nvSpPr>
        <p:spPr>
          <a:xfrm>
            <a:off x="914400" y="4818888"/>
            <a:ext cx="219456" cy="219456"/>
          </a:xfrm>
          <a:prstGeom prst="ellipse">
            <a:avLst/>
          </a:prstGeom>
          <a:solidFill>
            <a:srgbClr val="C9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005840" y="5038344"/>
            <a:ext cx="36576" cy="146304"/>
          </a:xfrm>
          <a:prstGeom prst="rect">
            <a:avLst/>
          </a:prstGeom>
          <a:solidFill>
            <a:srgbClr val="C9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234440" y="4754880"/>
            <a:ext cx="2743200" cy="34747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100" b="0" i="0">
                <a:solidFill>
                  <a:srgbClr val="141414"/>
                </a:solidFill>
                <a:latin typeface="Arial"/>
              </a:rPr>
              <a:t>Installation completed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840480" y="4754880"/>
            <a:ext cx="1097280" cy="34747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 i="0">
                <a:solidFill>
                  <a:srgbClr val="5B6478"/>
                </a:solidFill>
                <a:latin typeface="Arial"/>
              </a:rPr>
              <a:t/>
            </a:r>
          </a:p>
        </p:txBody>
      </p:sp>
      <p:sp>
        <p:nvSpPr>
          <p:cNvPr id="47" name="Oval 46"/>
          <p:cNvSpPr/>
          <p:nvPr/>
        </p:nvSpPr>
        <p:spPr>
          <a:xfrm>
            <a:off x="914400" y="5184648"/>
            <a:ext cx="219456" cy="219456"/>
          </a:xfrm>
          <a:prstGeom prst="ellipse">
            <a:avLst/>
          </a:prstGeom>
          <a:solidFill>
            <a:srgbClr val="C9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005840" y="5404103"/>
            <a:ext cx="36576" cy="146304"/>
          </a:xfrm>
          <a:prstGeom prst="rect">
            <a:avLst/>
          </a:prstGeom>
          <a:solidFill>
            <a:srgbClr val="C9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234440" y="5120640"/>
            <a:ext cx="2743200" cy="34747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100" b="0" i="0">
                <a:solidFill>
                  <a:srgbClr val="141414"/>
                </a:solidFill>
                <a:latin typeface="Arial"/>
              </a:rPr>
              <a:t>Final inspection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840480" y="5120640"/>
            <a:ext cx="1097280" cy="34747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 i="0">
                <a:solidFill>
                  <a:srgbClr val="5B6478"/>
                </a:solidFill>
                <a:latin typeface="Arial"/>
              </a:rPr>
              <a:t/>
            </a:r>
          </a:p>
        </p:txBody>
      </p:sp>
      <p:sp>
        <p:nvSpPr>
          <p:cNvPr id="51" name="Oval 50"/>
          <p:cNvSpPr/>
          <p:nvPr/>
        </p:nvSpPr>
        <p:spPr>
          <a:xfrm>
            <a:off x="914400" y="5550408"/>
            <a:ext cx="219456" cy="219456"/>
          </a:xfrm>
          <a:prstGeom prst="ellipse">
            <a:avLst/>
          </a:prstGeom>
          <a:solidFill>
            <a:srgbClr val="C9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234440" y="5486400"/>
            <a:ext cx="2743200" cy="34747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100" b="0" i="0">
                <a:solidFill>
                  <a:srgbClr val="141414"/>
                </a:solidFill>
                <a:latin typeface="Arial"/>
              </a:rPr>
              <a:t>Handed over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840480" y="5486400"/>
            <a:ext cx="1097280" cy="34747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 i="0">
                <a:solidFill>
                  <a:srgbClr val="5B6478"/>
                </a:solidFill>
                <a:latin typeface="Arial"/>
              </a:rPr>
              <a:t/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937760" y="2560320"/>
            <a:ext cx="201168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FC9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029200" y="2606040"/>
            <a:ext cx="1828800" cy="3200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E5391A"/>
                </a:solidFill>
                <a:latin typeface="Arial"/>
              </a:rPr>
              <a:t>Your tasks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029200" y="2926080"/>
            <a:ext cx="1874519" cy="18288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950" b="0" i="0">
                <a:solidFill>
                  <a:srgbClr val="141414"/>
                </a:solidFill>
                <a:latin typeface="Arial"/>
              </a:rPr>
              <a:t>• Prepare the shaft for KONE's survey</a:t>
            </a:r>
          </a:p>
          <a:p>
            <a:pPr algn="l"/>
            <a:r>
              <a:rPr sz="950" b="0" i="0">
                <a:solidFill>
                  <a:srgbClr val="141414"/>
                </a:solidFill>
                <a:latin typeface="Arial"/>
              </a:rPr>
              <a:t>• Confirm installation &amp; handover dates</a:t>
            </a:r>
          </a:p>
          <a:p>
            <a:pPr algn="l"/>
            <a:r>
              <a:rPr sz="950" b="0" i="0">
                <a:solidFill>
                  <a:srgbClr val="141414"/>
                </a:solidFill>
                <a:latin typeface="Arial"/>
              </a:rPr>
              <a:t>• Meet the 5 site-readiness requirements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77240" y="5943600"/>
            <a:ext cx="621792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850" b="0" i="1">
                <a:solidFill>
                  <a:srgbClr val="5B6478"/>
                </a:solidFill>
                <a:latin typeface="Arial"/>
              </a:rPr>
              <a:t>Illustrative mock-up · sample data · statuses and tasks as shown in myKONE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7543800" y="1344168"/>
            <a:ext cx="4160520" cy="4983480"/>
          </a:xfrm>
          <a:prstGeom prst="roundRect">
            <a:avLst>
              <a:gd name="adj" fmla="val 5000"/>
            </a:avLst>
          </a:prstGeom>
          <a:solidFill>
            <a:srgbClr val="C9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7498079" y="1280160"/>
            <a:ext cx="4160520" cy="4983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9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7498079" y="1280160"/>
            <a:ext cx="4160520" cy="685800"/>
          </a:xfrm>
          <a:prstGeom prst="roundRect">
            <a:avLst>
              <a:gd name="adj" fmla="val 20000"/>
            </a:avLst>
          </a:prstGeom>
          <a:solidFill>
            <a:srgbClr val="145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498079" y="1691639"/>
            <a:ext cx="4160520" cy="274320"/>
          </a:xfrm>
          <a:prstGeom prst="rect">
            <a:avLst/>
          </a:prstGeom>
          <a:solidFill>
            <a:srgbClr val="145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2" name="Picture 61" descr="widget-robo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07807" y="1371600"/>
            <a:ext cx="566928" cy="484632"/>
          </a:xfrm>
          <a:prstGeom prst="rect">
            <a:avLst/>
          </a:prstGeom>
        </p:spPr>
      </p:pic>
      <p:sp>
        <p:nvSpPr>
          <p:cNvPr id="63" name="TextBox 62"/>
          <p:cNvSpPr txBox="1"/>
          <p:nvPr/>
        </p:nvSpPr>
        <p:spPr>
          <a:xfrm>
            <a:off x="8229600" y="1353312"/>
            <a:ext cx="3246120" cy="3200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myKONE Assistant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229600" y="1627631"/>
            <a:ext cx="324612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900" b="0" i="0">
                <a:solidFill>
                  <a:srgbClr val="DAE4FF"/>
                </a:solidFill>
                <a:latin typeface="Arial"/>
              </a:rPr>
              <a:t>● Online · powered by JarCube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8193023" y="2103120"/>
            <a:ext cx="3328416" cy="365760"/>
          </a:xfrm>
          <a:prstGeom prst="roundRect">
            <a:avLst>
              <a:gd name="adj" fmla="val 20000"/>
            </a:avLst>
          </a:prstGeom>
          <a:solidFill>
            <a:srgbClr val="145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950" b="0" i="0">
                <a:solidFill>
                  <a:srgbClr val="FFFFFF"/>
                </a:solidFill>
                <a:latin typeface="Arial"/>
              </a:rPr>
              <a:t>Where is my elevator 41234561?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7635240" y="2560320"/>
            <a:ext cx="3328416" cy="868680"/>
          </a:xfrm>
          <a:prstGeom prst="roundRect">
            <a:avLst>
              <a:gd name="adj" fmla="val 20000"/>
            </a:avLst>
          </a:prstGeom>
          <a:solidFill>
            <a:srgbClr val="E7ED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950" b="0" i="0">
                <a:solidFill>
                  <a:srgbClr val="141414"/>
                </a:solidFill>
                <a:latin typeface="Arial"/>
              </a:rPr>
              <a:t>STATUS: Production started (drawings approved 24 Sep).</a:t>
            </a:r>
          </a:p>
          <a:p>
            <a:pPr algn="l"/>
            <a:r>
              <a:rPr sz="950" b="0" i="0">
                <a:solidFill>
                  <a:srgbClr val="141414"/>
                </a:solidFill>
                <a:latin typeface="Arial"/>
              </a:rPr>
              <a:t>NEXT: Equipment shipped, est. 4 Nov.</a:t>
            </a:r>
          </a:p>
          <a:p>
            <a:pPr algn="l"/>
            <a:r>
              <a:rPr sz="950" b="0" i="0">
                <a:solidFill>
                  <a:srgbClr val="141414"/>
                </a:solidFill>
                <a:latin typeface="Arial"/>
              </a:rPr>
              <a:t>On schedule.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8193023" y="3520439"/>
            <a:ext cx="3328416" cy="365760"/>
          </a:xfrm>
          <a:prstGeom prst="roundRect">
            <a:avLst>
              <a:gd name="adj" fmla="val 20000"/>
            </a:avLst>
          </a:prstGeom>
          <a:solidFill>
            <a:srgbClr val="145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950" b="0" i="0">
                <a:solidFill>
                  <a:srgbClr val="FFFFFF"/>
                </a:solidFill>
                <a:latin typeface="Arial"/>
              </a:rPr>
              <a:t>Do I need to do anything?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7635240" y="3977639"/>
            <a:ext cx="3328416" cy="1325880"/>
          </a:xfrm>
          <a:prstGeom prst="roundRect">
            <a:avLst>
              <a:gd name="adj" fmla="val 20000"/>
            </a:avLst>
          </a:prstGeom>
          <a:solidFill>
            <a:srgbClr val="E7ED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950" b="0" i="0">
                <a:solidFill>
                  <a:srgbClr val="141414"/>
                </a:solidFill>
                <a:latin typeface="Arial"/>
              </a:rPr>
              <a:t>Yes, 2 tasks before shipment:</a:t>
            </a:r>
          </a:p>
          <a:p>
            <a:pPr algn="l"/>
            <a:r>
              <a:rPr sz="950" b="0" i="0">
                <a:solidFill>
                  <a:srgbClr val="141414"/>
                </a:solidFill>
                <a:latin typeface="Arial"/>
              </a:rPr>
              <a:t>1. Confirm installation and handover dates</a:t>
            </a:r>
          </a:p>
          <a:p>
            <a:pPr algn="l"/>
            <a:r>
              <a:rPr sz="950" b="0" i="0">
                <a:solidFill>
                  <a:srgbClr val="141414"/>
                </a:solidFill>
                <a:latin typeface="Arial"/>
              </a:rPr>
              <a:t>2. Prepare the shaft to KONE's layout</a:t>
            </a:r>
          </a:p>
          <a:p>
            <a:pPr algn="l"/>
            <a:r>
              <a:rPr sz="950" b="0" i="0">
                <a:solidFill>
                  <a:srgbClr val="141414"/>
                </a:solidFill>
                <a:latin typeface="Arial"/>
              </a:rPr>
              <a:t>IMPACT: unconfirmed dates can delay your installation slot.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7635240" y="5394959"/>
            <a:ext cx="3328416" cy="411480"/>
          </a:xfrm>
          <a:prstGeom prst="roundRect">
            <a:avLst>
              <a:gd name="adj" fmla="val 20000"/>
            </a:avLst>
          </a:prstGeom>
          <a:solidFill>
            <a:srgbClr val="E7ED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950" b="0" i="0">
                <a:solidFill>
                  <a:srgbClr val="141414"/>
                </a:solidFill>
                <a:latin typeface="Arial"/>
              </a:rPr>
              <a:t>[ Open project in myKONE ]   [ Contact my Project Manager ]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7635240" y="5760720"/>
            <a:ext cx="3886200" cy="384048"/>
          </a:xfrm>
          <a:prstGeom prst="roundRect">
            <a:avLst>
              <a:gd name="adj" fmla="val 50000"/>
            </a:avLst>
          </a:prstGeom>
          <a:solidFill>
            <a:srgbClr val="F5F8FF"/>
          </a:solidFill>
          <a:ln w="12700">
            <a:solidFill>
              <a:srgbClr val="C9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726679" y="5779007"/>
            <a:ext cx="3246120" cy="34747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900" b="0" i="0">
                <a:solidFill>
                  <a:srgbClr val="5B6478"/>
                </a:solidFill>
                <a:latin typeface="Arial"/>
              </a:rPr>
              <a:t>Ask about your equipment, projects, tenders…</a:t>
            </a:r>
          </a:p>
        </p:txBody>
      </p:sp>
      <p:sp>
        <p:nvSpPr>
          <p:cNvPr id="72" name="Oval 71"/>
          <p:cNvSpPr/>
          <p:nvPr/>
        </p:nvSpPr>
        <p:spPr>
          <a:xfrm>
            <a:off x="11155680" y="5797296"/>
            <a:ext cx="310896" cy="310896"/>
          </a:xfrm>
          <a:prstGeom prst="ellipse">
            <a:avLst/>
          </a:prstGeom>
          <a:solidFill>
            <a:srgbClr val="145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➤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5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875520" cy="6400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600" b="1" i="0">
                <a:solidFill>
                  <a:srgbClr val="13234A"/>
                </a:solidFill>
                <a:latin typeface="Arial"/>
              </a:rPr>
              <a:t>Use case 2 · Track: all my projects in one 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241280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500" b="0" i="0">
                <a:solidFill>
                  <a:srgbClr val="5B6478"/>
                </a:solidFill>
                <a:latin typeface="Arial"/>
              </a:rPr>
              <a:t>No switching between sales orders: the assistant summarises every elevator the user can see</a:t>
            </a:r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1400" y="274320"/>
            <a:ext cx="640080" cy="640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00800"/>
            <a:ext cx="6400800" cy="3200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5B6478"/>
                </a:solidFill>
                <a:latin typeface="Arial"/>
              </a:rPr>
              <a:t>JarCube AI Assistant  ×  myKONE  |  v3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/>
            <a:r>
              <a:rPr sz="1000" b="0" i="0">
                <a:solidFill>
                  <a:srgbClr val="5B6478"/>
                </a:solidFill>
                <a:latin typeface="Arial"/>
              </a:rPr>
              <a:t>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435608"/>
            <a:ext cx="4572000" cy="4846320"/>
          </a:xfrm>
          <a:prstGeom prst="roundRect">
            <a:avLst>
              <a:gd name="adj" fmla="val 5000"/>
            </a:avLst>
          </a:prstGeom>
          <a:solidFill>
            <a:srgbClr val="C9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1371600"/>
            <a:ext cx="4572000" cy="4846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9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48640" y="1371600"/>
            <a:ext cx="4572000" cy="685800"/>
          </a:xfrm>
          <a:prstGeom prst="roundRect">
            <a:avLst>
              <a:gd name="adj" fmla="val 20000"/>
            </a:avLst>
          </a:prstGeom>
          <a:solidFill>
            <a:srgbClr val="145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783080"/>
            <a:ext cx="4572000" cy="274320"/>
          </a:xfrm>
          <a:prstGeom prst="rect">
            <a:avLst/>
          </a:prstGeom>
          <a:solidFill>
            <a:srgbClr val="145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widget-rob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463040"/>
            <a:ext cx="566928" cy="48463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280160" y="1444752"/>
            <a:ext cx="3657600" cy="3200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myKONE Assistant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1719072"/>
            <a:ext cx="36576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900" b="0" i="0">
                <a:solidFill>
                  <a:srgbClr val="DAE4FF"/>
                </a:solidFill>
                <a:latin typeface="Arial"/>
              </a:rPr>
              <a:t>● Online · powered by JarCube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325879" y="2194560"/>
            <a:ext cx="3657600" cy="365760"/>
          </a:xfrm>
          <a:prstGeom prst="roundRect">
            <a:avLst>
              <a:gd name="adj" fmla="val 20000"/>
            </a:avLst>
          </a:prstGeom>
          <a:solidFill>
            <a:srgbClr val="145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950" b="0" i="0">
                <a:solidFill>
                  <a:srgbClr val="FFFFFF"/>
                </a:solidFill>
                <a:latin typeface="Arial"/>
              </a:rPr>
              <a:t>Show me my elevator projects.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2651760"/>
            <a:ext cx="3657600" cy="548640"/>
          </a:xfrm>
          <a:prstGeom prst="roundRect">
            <a:avLst>
              <a:gd name="adj" fmla="val 20000"/>
            </a:avLst>
          </a:prstGeom>
          <a:solidFill>
            <a:srgbClr val="E7ED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950" b="0" i="0">
                <a:solidFill>
                  <a:srgbClr val="141414"/>
                </a:solidFill>
                <a:latin typeface="Arial"/>
              </a:rPr>
              <a:t>You have 4 active elevators across 2 projects. 1 needs your action.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325879" y="3291839"/>
            <a:ext cx="3657600" cy="411480"/>
          </a:xfrm>
          <a:prstGeom prst="roundRect">
            <a:avLst>
              <a:gd name="adj" fmla="val 20000"/>
            </a:avLst>
          </a:prstGeom>
          <a:solidFill>
            <a:srgbClr val="145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950" b="0" i="0">
                <a:solidFill>
                  <a:srgbClr val="FFFFFF"/>
                </a:solidFill>
                <a:latin typeface="Arial"/>
              </a:rPr>
              <a:t>Which one needs action and why?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794759"/>
            <a:ext cx="3657600" cy="914400"/>
          </a:xfrm>
          <a:prstGeom prst="roundRect">
            <a:avLst>
              <a:gd name="adj" fmla="val 20000"/>
            </a:avLst>
          </a:prstGeom>
          <a:solidFill>
            <a:srgbClr val="E7ED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950" b="0" i="0">
                <a:solidFill>
                  <a:srgbClr val="141414"/>
                </a:solidFill>
                <a:latin typeface="Arial"/>
              </a:rPr>
              <a:t>41234563 at Riverside Offices: Delivered to site is next. Please make sure KONE's trucks can access your site on 8 Nov.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4800600"/>
            <a:ext cx="3657600" cy="384048"/>
          </a:xfrm>
          <a:prstGeom prst="roundRect">
            <a:avLst>
              <a:gd name="adj" fmla="val 20000"/>
            </a:avLst>
          </a:prstGeom>
          <a:solidFill>
            <a:srgbClr val="E7ED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950" b="0" i="0">
                <a:solidFill>
                  <a:srgbClr val="141414"/>
                </a:solidFill>
                <a:latin typeface="Arial"/>
              </a:rPr>
              <a:t>[ View task ]   [ Remind me later ]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5715000"/>
            <a:ext cx="4297680" cy="384048"/>
          </a:xfrm>
          <a:prstGeom prst="roundRect">
            <a:avLst>
              <a:gd name="adj" fmla="val 50000"/>
            </a:avLst>
          </a:prstGeom>
          <a:solidFill>
            <a:srgbClr val="F5F8FF"/>
          </a:solidFill>
          <a:ln w="12700">
            <a:solidFill>
              <a:srgbClr val="C9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5733288"/>
            <a:ext cx="3657600" cy="34747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900" b="0" i="0">
                <a:solidFill>
                  <a:srgbClr val="5B6478"/>
                </a:solidFill>
                <a:latin typeface="Arial"/>
              </a:rPr>
              <a:t>Ask about your equipment, projects, tenders…</a:t>
            </a:r>
          </a:p>
        </p:txBody>
      </p:sp>
      <p:sp>
        <p:nvSpPr>
          <p:cNvPr id="22" name="Oval 21"/>
          <p:cNvSpPr/>
          <p:nvPr/>
        </p:nvSpPr>
        <p:spPr>
          <a:xfrm>
            <a:off x="4617720" y="5751576"/>
            <a:ext cx="310896" cy="310896"/>
          </a:xfrm>
          <a:prstGeom prst="ellipse">
            <a:avLst/>
          </a:prstGeom>
          <a:solidFill>
            <a:srgbClr val="145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➤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0" y="1463040"/>
            <a:ext cx="1371600" cy="566928"/>
          </a:xfrm>
          <a:prstGeom prst="rect">
            <a:avLst/>
          </a:prstGeom>
          <a:solidFill>
            <a:srgbClr val="132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0" y="1463040"/>
            <a:ext cx="1371600" cy="56692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Equipment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58000" y="1463040"/>
            <a:ext cx="1645920" cy="566928"/>
          </a:xfrm>
          <a:prstGeom prst="rect">
            <a:avLst/>
          </a:prstGeom>
          <a:solidFill>
            <a:srgbClr val="132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0" y="1463040"/>
            <a:ext cx="1645920" cy="56692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Project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503920" y="1463040"/>
            <a:ext cx="1920240" cy="566928"/>
          </a:xfrm>
          <a:prstGeom prst="rect">
            <a:avLst/>
          </a:prstGeom>
          <a:solidFill>
            <a:srgbClr val="132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03920" y="1463040"/>
            <a:ext cx="1920240" cy="56692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Current stage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424160" y="1463040"/>
            <a:ext cx="1234440" cy="566928"/>
          </a:xfrm>
          <a:prstGeom prst="rect">
            <a:avLst/>
          </a:prstGeom>
          <a:solidFill>
            <a:srgbClr val="132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424160" y="1463040"/>
            <a:ext cx="1234440" cy="56692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Status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0" y="2029968"/>
            <a:ext cx="1371600" cy="566928"/>
          </a:xfrm>
          <a:prstGeom prst="rect">
            <a:avLst/>
          </a:prstGeom>
          <a:solidFill>
            <a:srgbClr val="F5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0" y="2029968"/>
            <a:ext cx="1371600" cy="56692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100" b="1" i="0">
                <a:solidFill>
                  <a:srgbClr val="13234A"/>
                </a:solidFill>
                <a:latin typeface="Arial"/>
              </a:rPr>
              <a:t>41234561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858000" y="2029968"/>
            <a:ext cx="1645920" cy="566928"/>
          </a:xfrm>
          <a:prstGeom prst="rect">
            <a:avLst/>
          </a:prstGeom>
          <a:solidFill>
            <a:srgbClr val="F5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58000" y="2029968"/>
            <a:ext cx="1645920" cy="56692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100" b="0" i="0">
                <a:solidFill>
                  <a:srgbClr val="141414"/>
                </a:solidFill>
                <a:latin typeface="Arial"/>
              </a:rPr>
              <a:t>Riverside Offices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503920" y="2029968"/>
            <a:ext cx="1920240" cy="566928"/>
          </a:xfrm>
          <a:prstGeom prst="rect">
            <a:avLst/>
          </a:prstGeom>
          <a:solidFill>
            <a:srgbClr val="F5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503920" y="2029968"/>
            <a:ext cx="1920240" cy="56692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100" b="0" i="0">
                <a:solidFill>
                  <a:srgbClr val="141414"/>
                </a:solidFill>
                <a:latin typeface="Arial"/>
              </a:rPr>
              <a:t>Production started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424160" y="2029968"/>
            <a:ext cx="1234440" cy="566928"/>
          </a:xfrm>
          <a:prstGeom prst="rect">
            <a:avLst/>
          </a:prstGeom>
          <a:solidFill>
            <a:srgbClr val="F5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424160" y="2029968"/>
            <a:ext cx="1234440" cy="56692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100" b="0" i="0">
                <a:solidFill>
                  <a:srgbClr val="141414"/>
                </a:solidFill>
                <a:latin typeface="Arial"/>
              </a:rPr>
              <a:t/>
            </a:r>
          </a:p>
        </p:txBody>
      </p:sp>
      <p:sp>
        <p:nvSpPr>
          <p:cNvPr id="39" name="Rectangle 38"/>
          <p:cNvSpPr/>
          <p:nvPr/>
        </p:nvSpPr>
        <p:spPr>
          <a:xfrm>
            <a:off x="5486400" y="2596896"/>
            <a:ext cx="137160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86400" y="2596896"/>
            <a:ext cx="1371600" cy="56692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100" b="1" i="0">
                <a:solidFill>
                  <a:srgbClr val="13234A"/>
                </a:solidFill>
                <a:latin typeface="Arial"/>
              </a:rPr>
              <a:t>41234562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858000" y="2596896"/>
            <a:ext cx="164592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58000" y="2596896"/>
            <a:ext cx="1645920" cy="56692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100" b="0" i="0">
                <a:solidFill>
                  <a:srgbClr val="141414"/>
                </a:solidFill>
                <a:latin typeface="Arial"/>
              </a:rPr>
              <a:t>Riverside Offices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503920" y="2596896"/>
            <a:ext cx="192024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503920" y="2596896"/>
            <a:ext cx="1920240" cy="56692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100" b="0" i="0">
                <a:solidFill>
                  <a:srgbClr val="141414"/>
                </a:solidFill>
                <a:latin typeface="Arial"/>
              </a:rPr>
              <a:t>Drawings approved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0424160" y="2596896"/>
            <a:ext cx="123444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424160" y="2596896"/>
            <a:ext cx="1234440" cy="56692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100" b="0" i="0">
                <a:solidFill>
                  <a:srgbClr val="141414"/>
                </a:solidFill>
                <a:latin typeface="Arial"/>
              </a:rPr>
              <a:t/>
            </a:r>
          </a:p>
        </p:txBody>
      </p:sp>
      <p:sp>
        <p:nvSpPr>
          <p:cNvPr id="47" name="Rectangle 46"/>
          <p:cNvSpPr/>
          <p:nvPr/>
        </p:nvSpPr>
        <p:spPr>
          <a:xfrm>
            <a:off x="5486400" y="3163824"/>
            <a:ext cx="1371600" cy="566928"/>
          </a:xfrm>
          <a:prstGeom prst="rect">
            <a:avLst/>
          </a:prstGeom>
          <a:solidFill>
            <a:srgbClr val="F5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486400" y="3163824"/>
            <a:ext cx="1371600" cy="56692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100" b="1" i="0">
                <a:solidFill>
                  <a:srgbClr val="13234A"/>
                </a:solidFill>
                <a:latin typeface="Arial"/>
              </a:rPr>
              <a:t>41234563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858000" y="3163824"/>
            <a:ext cx="1645920" cy="566928"/>
          </a:xfrm>
          <a:prstGeom prst="rect">
            <a:avLst/>
          </a:prstGeom>
          <a:solidFill>
            <a:srgbClr val="F5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858000" y="3163824"/>
            <a:ext cx="1645920" cy="56692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100" b="0" i="0">
                <a:solidFill>
                  <a:srgbClr val="141414"/>
                </a:solidFill>
                <a:latin typeface="Arial"/>
              </a:rPr>
              <a:t>Riverside Offices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503920" y="3163824"/>
            <a:ext cx="1920240" cy="566928"/>
          </a:xfrm>
          <a:prstGeom prst="rect">
            <a:avLst/>
          </a:prstGeom>
          <a:solidFill>
            <a:srgbClr val="F5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503920" y="3163824"/>
            <a:ext cx="1920240" cy="56692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100" b="0" i="0">
                <a:solidFill>
                  <a:srgbClr val="141414"/>
                </a:solidFill>
                <a:latin typeface="Arial"/>
              </a:rPr>
              <a:t>Equipment shipped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0424160" y="3163824"/>
            <a:ext cx="1234440" cy="566928"/>
          </a:xfrm>
          <a:prstGeom prst="rect">
            <a:avLst/>
          </a:prstGeom>
          <a:solidFill>
            <a:srgbClr val="F5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424160" y="3163824"/>
            <a:ext cx="1234440" cy="56692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100" b="0" i="0">
                <a:solidFill>
                  <a:srgbClr val="141414"/>
                </a:solidFill>
                <a:latin typeface="Arial"/>
              </a:rPr>
              <a:t/>
            </a:r>
          </a:p>
        </p:txBody>
      </p:sp>
      <p:sp>
        <p:nvSpPr>
          <p:cNvPr id="55" name="Rectangle 54"/>
          <p:cNvSpPr/>
          <p:nvPr/>
        </p:nvSpPr>
        <p:spPr>
          <a:xfrm>
            <a:off x="5486400" y="3730752"/>
            <a:ext cx="137160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486400" y="3730752"/>
            <a:ext cx="1371600" cy="56692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100" b="1" i="0">
                <a:solidFill>
                  <a:srgbClr val="13234A"/>
                </a:solidFill>
                <a:latin typeface="Arial"/>
              </a:rPr>
              <a:t>41234570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858000" y="3730752"/>
            <a:ext cx="164592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858000" y="3730752"/>
            <a:ext cx="1645920" cy="56692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100" b="0" i="0">
                <a:solidFill>
                  <a:srgbClr val="141414"/>
                </a:solidFill>
                <a:latin typeface="Arial"/>
              </a:rPr>
              <a:t>Harbor Towers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503920" y="3730752"/>
            <a:ext cx="192024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503920" y="3730752"/>
            <a:ext cx="1920240" cy="56692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100" b="0" i="0">
                <a:solidFill>
                  <a:srgbClr val="141414"/>
                </a:solidFill>
                <a:latin typeface="Arial"/>
              </a:rPr>
              <a:t>Installation started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0424160" y="3730752"/>
            <a:ext cx="123444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0424160" y="3730752"/>
            <a:ext cx="1234440" cy="56692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100" b="0" i="0">
                <a:solidFill>
                  <a:srgbClr val="141414"/>
                </a:solidFill>
                <a:latin typeface="Arial"/>
              </a:rPr>
              <a:t/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9921240" y="2103120"/>
            <a:ext cx="1143000" cy="329184"/>
          </a:xfrm>
          <a:prstGeom prst="roundRect">
            <a:avLst>
              <a:gd name="adj" fmla="val 15000"/>
            </a:avLst>
          </a:prstGeom>
          <a:solidFill>
            <a:srgbClr val="2EA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On schedule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9921240" y="2670048"/>
            <a:ext cx="1143000" cy="329184"/>
          </a:xfrm>
          <a:prstGeom prst="roundRect">
            <a:avLst>
              <a:gd name="adj" fmla="val 15000"/>
            </a:avLst>
          </a:prstGeom>
          <a:solidFill>
            <a:srgbClr val="2EA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On schedule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9921240" y="3236976"/>
            <a:ext cx="1143000" cy="329184"/>
          </a:xfrm>
          <a:prstGeom prst="roundRect">
            <a:avLst>
              <a:gd name="adj" fmla="val 15000"/>
            </a:avLst>
          </a:prstGeom>
          <a:solidFill>
            <a:srgbClr val="FF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00" b="1" i="0">
                <a:solidFill>
                  <a:srgbClr val="13234A"/>
                </a:solidFill>
                <a:latin typeface="Arial"/>
              </a:rPr>
              <a:t>Action needed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9921240" y="3803904"/>
            <a:ext cx="1143000" cy="329184"/>
          </a:xfrm>
          <a:prstGeom prst="roundRect">
            <a:avLst>
              <a:gd name="adj" fmla="val 15000"/>
            </a:avLst>
          </a:prstGeom>
          <a:solidFill>
            <a:srgbClr val="E539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Delayed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5486400" y="4480560"/>
            <a:ext cx="6172200" cy="1508760"/>
          </a:xfrm>
          <a:prstGeom prst="roundRect">
            <a:avLst>
              <a:gd name="adj" fmla="val 8000"/>
            </a:avLst>
          </a:prstGeom>
          <a:solidFill>
            <a:srgbClr val="F5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486400" y="4645152"/>
            <a:ext cx="73152" cy="1179576"/>
          </a:xfrm>
          <a:prstGeom prst="rect">
            <a:avLst/>
          </a:prstGeom>
          <a:solidFill>
            <a:srgbClr val="2EA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687568" y="4590288"/>
            <a:ext cx="5852160" cy="4114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3234A"/>
                </a:solidFill>
                <a:latin typeface="Arial"/>
              </a:rPr>
              <a:t>Respects myKONE access rights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687568" y="5010912"/>
            <a:ext cx="5852160" cy="914399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5B6478"/>
                </a:solidFill>
                <a:latin typeface="Arial"/>
              </a:rPr>
              <a:t>Only equipment the user is allowed to see in myKONE is included. Users limited to certain sites or contracts only get those sites, and invoices only show with invoice permission.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486400" y="6035040"/>
            <a:ext cx="612648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850" b="0" i="1">
                <a:solidFill>
                  <a:srgbClr val="5B6478"/>
                </a:solidFill>
                <a:latin typeface="Arial"/>
              </a:rPr>
              <a:t>Illustrative mock-up · sample data · statuses and tasks as shown in myKONE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5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875520" cy="6400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600" b="1" i="0">
                <a:solidFill>
                  <a:srgbClr val="13234A"/>
                </a:solidFill>
                <a:latin typeface="Arial"/>
              </a:rPr>
              <a:t>Use case 3 · Act: “Where is my tender?”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241280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500" b="0" i="0">
                <a:solidFill>
                  <a:srgbClr val="5B6478"/>
                </a:solidFill>
                <a:latin typeface="Arial"/>
              </a:rPr>
              <a:t>Customers see what is waiting for them and finish it in one click</a:t>
            </a:r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1400" y="274320"/>
            <a:ext cx="640080" cy="640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00800"/>
            <a:ext cx="6400800" cy="3200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5B6478"/>
                </a:solidFill>
                <a:latin typeface="Arial"/>
              </a:rPr>
              <a:t>JarCube AI Assistant  ×  myKONE  |  v3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/>
            <a:r>
              <a:rPr sz="1000" b="0" i="0">
                <a:solidFill>
                  <a:srgbClr val="5B6478"/>
                </a:solidFill>
                <a:latin typeface="Arial"/>
              </a:rPr>
              <a:t>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63040"/>
            <a:ext cx="6583680" cy="4800600"/>
          </a:xfrm>
          <a:prstGeom prst="roundRect">
            <a:avLst>
              <a:gd name="adj" fmla="val 2000"/>
            </a:avLst>
          </a:prstGeom>
          <a:solidFill>
            <a:srgbClr val="F5F8FF"/>
          </a:solidFill>
          <a:ln w="12700">
            <a:solidFill>
              <a:srgbClr val="C9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463040"/>
            <a:ext cx="6583680" cy="502920"/>
          </a:xfrm>
          <a:prstGeom prst="rect">
            <a:avLst/>
          </a:prstGeom>
          <a:solidFill>
            <a:srgbClr val="132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kone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591056"/>
            <a:ext cx="777240" cy="31219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691640" y="1581912"/>
            <a:ext cx="896112" cy="30175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DAE4FF"/>
                </a:solidFill>
                <a:latin typeface="Arial"/>
              </a:rPr>
              <a:t>Home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87752" y="1581912"/>
            <a:ext cx="896112" cy="30175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DAE4FF"/>
                </a:solidFill>
                <a:latin typeface="Arial"/>
              </a:rPr>
              <a:t>Equipment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83864" y="1581912"/>
            <a:ext cx="896112" cy="30175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DAE4FF"/>
                </a:solidFill>
                <a:latin typeface="Arial"/>
              </a:rPr>
              <a:t>Delivery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79976" y="1581912"/>
            <a:ext cx="896112" cy="30175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rial"/>
              </a:rPr>
              <a:t>Tenders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53128" y="1901952"/>
            <a:ext cx="640080" cy="45720"/>
          </a:xfrm>
          <a:prstGeom prst="rect">
            <a:avLst/>
          </a:prstGeom>
          <a:solidFill>
            <a:srgbClr val="145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76088" y="1581912"/>
            <a:ext cx="896112" cy="30175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DAE4FF"/>
                </a:solidFill>
                <a:latin typeface="Arial"/>
              </a:rPr>
              <a:t>Reports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2200" y="1581912"/>
            <a:ext cx="896112" cy="30175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DAE4FF"/>
                </a:solidFill>
                <a:latin typeface="Arial"/>
              </a:rPr>
              <a:t>Invoices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2103120"/>
            <a:ext cx="365760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13234A"/>
                </a:solidFill>
                <a:latin typeface="Arial"/>
              </a:rPr>
              <a:t>Active tenders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560320"/>
            <a:ext cx="6126480" cy="384048"/>
          </a:xfrm>
          <a:prstGeom prst="rect">
            <a:avLst/>
          </a:prstGeom>
          <a:solidFill>
            <a:srgbClr val="E7ED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2587752"/>
            <a:ext cx="2286000" cy="32918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13234A"/>
                </a:solidFill>
                <a:latin typeface="Arial"/>
              </a:rPr>
              <a:t>Tender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46120" y="2587752"/>
            <a:ext cx="2286000" cy="32918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13234A"/>
                </a:solidFill>
                <a:latin typeface="Arial"/>
              </a:rPr>
              <a:t>Site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74920" y="2587752"/>
            <a:ext cx="2286000" cy="32918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13234A"/>
                </a:solidFill>
                <a:latin typeface="Arial"/>
              </a:rPr>
              <a:t>Status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" y="2990088"/>
            <a:ext cx="612648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3081528"/>
            <a:ext cx="2377440" cy="32918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1450F5"/>
                </a:solidFill>
                <a:latin typeface="Arial"/>
              </a:rPr>
              <a:t>Door operator repair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46120" y="3081528"/>
            <a:ext cx="1828800" cy="32918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141414"/>
                </a:solidFill>
                <a:latin typeface="Arial"/>
              </a:rPr>
              <a:t>Tower 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0" y="3081528"/>
            <a:ext cx="1783080" cy="320040"/>
          </a:xfrm>
          <a:prstGeom prst="roundRect">
            <a:avLst>
              <a:gd name="adj" fmla="val 15000"/>
            </a:avLst>
          </a:prstGeom>
          <a:solidFill>
            <a:srgbClr val="FF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00" b="1" i="0">
                <a:solidFill>
                  <a:srgbClr val="13234A"/>
                </a:solidFill>
                <a:latin typeface="Arial"/>
              </a:rPr>
              <a:t>Pending approval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3538728"/>
            <a:ext cx="612648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8680" y="3630168"/>
            <a:ext cx="2377440" cy="32918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1450F5"/>
                </a:solidFill>
                <a:latin typeface="Arial"/>
              </a:rPr>
              <a:t>Escalator step chain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46120" y="3630168"/>
            <a:ext cx="1828800" cy="32918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141414"/>
                </a:solidFill>
                <a:latin typeface="Arial"/>
              </a:rPr>
              <a:t>City Mall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0" y="3630168"/>
            <a:ext cx="1783080" cy="320040"/>
          </a:xfrm>
          <a:prstGeom prst="roundRect">
            <a:avLst>
              <a:gd name="adj" fmla="val 15000"/>
            </a:avLst>
          </a:prstGeom>
          <a:solidFill>
            <a:srgbClr val="E539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Waiting for PO number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087368"/>
            <a:ext cx="612648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" y="4178807"/>
            <a:ext cx="2377440" cy="32918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1450F5"/>
                </a:solidFill>
                <a:latin typeface="Arial"/>
              </a:rPr>
              <a:t>Car lighting upgrade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46120" y="4178807"/>
            <a:ext cx="1828800" cy="32918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141414"/>
                </a:solidFill>
                <a:latin typeface="Arial"/>
              </a:rPr>
              <a:t>Tower B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029200" y="4178807"/>
            <a:ext cx="1783080" cy="320040"/>
          </a:xfrm>
          <a:prstGeom prst="roundRect">
            <a:avLst>
              <a:gd name="adj" fmla="val 15000"/>
            </a:avLst>
          </a:prstGeom>
          <a:solidFill>
            <a:srgbClr val="03A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Change requested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77240" y="4636008"/>
            <a:ext cx="612648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68680" y="4727448"/>
            <a:ext cx="2377440" cy="32918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1450F5"/>
                </a:solidFill>
                <a:latin typeface="Arial"/>
              </a:rPr>
              <a:t>Rope replacement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46120" y="4727448"/>
            <a:ext cx="1828800" cy="32918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141414"/>
                </a:solidFill>
                <a:latin typeface="Arial"/>
              </a:rPr>
              <a:t>Harbor Towers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029200" y="4727448"/>
            <a:ext cx="1783080" cy="320040"/>
          </a:xfrm>
          <a:prstGeom prst="roundRect">
            <a:avLst>
              <a:gd name="adj" fmla="val 15000"/>
            </a:avLst>
          </a:prstGeom>
          <a:solidFill>
            <a:srgbClr val="2EA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Approved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7240" y="5943600"/>
            <a:ext cx="621792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850" b="0" i="1">
                <a:solidFill>
                  <a:srgbClr val="5B6478"/>
                </a:solidFill>
                <a:latin typeface="Arial"/>
              </a:rPr>
              <a:t>Illustrative mock-up · sample data · statuses and tasks as shown in myKONE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543800" y="1344168"/>
            <a:ext cx="4160520" cy="4983480"/>
          </a:xfrm>
          <a:prstGeom prst="roundRect">
            <a:avLst>
              <a:gd name="adj" fmla="val 5000"/>
            </a:avLst>
          </a:prstGeom>
          <a:solidFill>
            <a:srgbClr val="C9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7498079" y="1280160"/>
            <a:ext cx="4160520" cy="4983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9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7498079" y="1280160"/>
            <a:ext cx="4160520" cy="685800"/>
          </a:xfrm>
          <a:prstGeom prst="roundRect">
            <a:avLst>
              <a:gd name="adj" fmla="val 20000"/>
            </a:avLst>
          </a:prstGeom>
          <a:solidFill>
            <a:srgbClr val="145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498079" y="1691639"/>
            <a:ext cx="4160520" cy="274320"/>
          </a:xfrm>
          <a:prstGeom prst="rect">
            <a:avLst/>
          </a:prstGeom>
          <a:solidFill>
            <a:srgbClr val="145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4" name="Picture 43" descr="widget-robo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07807" y="1371600"/>
            <a:ext cx="566928" cy="484632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8229600" y="1353312"/>
            <a:ext cx="3246120" cy="3200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myKONE Assistant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29600" y="1627631"/>
            <a:ext cx="324612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900" b="0" i="0">
                <a:solidFill>
                  <a:srgbClr val="DAE4FF"/>
                </a:solidFill>
                <a:latin typeface="Arial"/>
              </a:rPr>
              <a:t>● Online · powered by JarCube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193023" y="2103120"/>
            <a:ext cx="3328416" cy="411480"/>
          </a:xfrm>
          <a:prstGeom prst="roundRect">
            <a:avLst>
              <a:gd name="adj" fmla="val 20000"/>
            </a:avLst>
          </a:prstGeom>
          <a:solidFill>
            <a:srgbClr val="145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950" b="0" i="0">
                <a:solidFill>
                  <a:srgbClr val="FFFFFF"/>
                </a:solidFill>
                <a:latin typeface="Arial"/>
              </a:rPr>
              <a:t>Do any tenders need something from me?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635240" y="2606039"/>
            <a:ext cx="3328416" cy="1143000"/>
          </a:xfrm>
          <a:prstGeom prst="roundRect">
            <a:avLst>
              <a:gd name="adj" fmla="val 20000"/>
            </a:avLst>
          </a:prstGeom>
          <a:solidFill>
            <a:srgbClr val="E7ED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950" b="0" i="0">
                <a:solidFill>
                  <a:srgbClr val="141414"/>
                </a:solidFill>
                <a:latin typeface="Arial"/>
              </a:rPr>
              <a:t>Yes, 2 tenders:</a:t>
            </a:r>
          </a:p>
          <a:p>
            <a:pPr algn="l"/>
            <a:r>
              <a:rPr sz="950" b="0" i="0">
                <a:solidFill>
                  <a:srgbClr val="141414"/>
                </a:solidFill>
                <a:latin typeface="Arial"/>
              </a:rPr>
              <a:t>• Door operator repair, Tower A: Pending approval</a:t>
            </a:r>
          </a:p>
          <a:p>
            <a:pPr algn="l"/>
            <a:r>
              <a:rPr sz="950" b="0" i="0">
                <a:solidFill>
                  <a:srgbClr val="141414"/>
                </a:solidFill>
                <a:latin typeface="Arial"/>
              </a:rPr>
              <a:t>• Escalator step chain, City Mall: approved, waiting for your PO number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193023" y="3840479"/>
            <a:ext cx="3328416" cy="411480"/>
          </a:xfrm>
          <a:prstGeom prst="roundRect">
            <a:avLst>
              <a:gd name="adj" fmla="val 20000"/>
            </a:avLst>
          </a:prstGeom>
          <a:solidFill>
            <a:srgbClr val="145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950" b="0" i="0">
                <a:solidFill>
                  <a:srgbClr val="FFFFFF"/>
                </a:solidFill>
                <a:latin typeface="Arial"/>
              </a:rPr>
              <a:t>What happens if I don't add the PO?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635240" y="4343399"/>
            <a:ext cx="3328416" cy="731520"/>
          </a:xfrm>
          <a:prstGeom prst="roundRect">
            <a:avLst>
              <a:gd name="adj" fmla="val 20000"/>
            </a:avLst>
          </a:prstGeom>
          <a:solidFill>
            <a:srgbClr val="E7ED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950" b="0" i="0">
                <a:solidFill>
                  <a:srgbClr val="141414"/>
                </a:solidFill>
                <a:latin typeface="Arial"/>
              </a:rPr>
              <a:t>KONE can't schedule the repair until the PO number is added. It takes about a minute.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635240" y="5166359"/>
            <a:ext cx="3328416" cy="384048"/>
          </a:xfrm>
          <a:prstGeom prst="roundRect">
            <a:avLst>
              <a:gd name="adj" fmla="val 20000"/>
            </a:avLst>
          </a:prstGeom>
          <a:solidFill>
            <a:srgbClr val="E7ED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950" b="0" i="0">
                <a:solidFill>
                  <a:srgbClr val="141414"/>
                </a:solidFill>
                <a:latin typeface="Arial"/>
              </a:rPr>
              <a:t>[ Add PO number ]   [ Review Tower A tender ]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635240" y="5760720"/>
            <a:ext cx="3886200" cy="384048"/>
          </a:xfrm>
          <a:prstGeom prst="roundRect">
            <a:avLst>
              <a:gd name="adj" fmla="val 50000"/>
            </a:avLst>
          </a:prstGeom>
          <a:solidFill>
            <a:srgbClr val="F5F8FF"/>
          </a:solidFill>
          <a:ln w="12700">
            <a:solidFill>
              <a:srgbClr val="C9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726679" y="5779007"/>
            <a:ext cx="3246120" cy="34747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900" b="0" i="0">
                <a:solidFill>
                  <a:srgbClr val="5B6478"/>
                </a:solidFill>
                <a:latin typeface="Arial"/>
              </a:rPr>
              <a:t>Ask about your equipment, projects, tenders…</a:t>
            </a:r>
          </a:p>
        </p:txBody>
      </p:sp>
      <p:sp>
        <p:nvSpPr>
          <p:cNvPr id="54" name="Oval 53"/>
          <p:cNvSpPr/>
          <p:nvPr/>
        </p:nvSpPr>
        <p:spPr>
          <a:xfrm>
            <a:off x="11155680" y="5797296"/>
            <a:ext cx="310896" cy="310896"/>
          </a:xfrm>
          <a:prstGeom prst="ellipse">
            <a:avLst/>
          </a:prstGeom>
          <a:solidFill>
            <a:srgbClr val="145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➤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5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875520" cy="6400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600" b="1" i="0">
                <a:solidFill>
                  <a:srgbClr val="13234A"/>
                </a:solidFill>
                <a:latin typeface="Arial"/>
              </a:rPr>
              <a:t>Use case 4 · Inspection reports explained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241280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500" b="0" i="0">
                <a:solidFill>
                  <a:srgbClr val="5B6478"/>
                </a:solidFill>
                <a:latin typeface="Arial"/>
              </a:rPr>
              <a:t>Plain-language findings, what is a safety issue, and the route to a repair</a:t>
            </a:r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1400" y="274320"/>
            <a:ext cx="640080" cy="640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00800"/>
            <a:ext cx="6400800" cy="3200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5B6478"/>
                </a:solidFill>
                <a:latin typeface="Arial"/>
              </a:rPr>
              <a:t>JarCube AI Assistant  ×  myKONE  |  v3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/>
            <a:r>
              <a:rPr sz="1000" b="0" i="0">
                <a:solidFill>
                  <a:srgbClr val="5B6478"/>
                </a:solidFill>
                <a:latin typeface="Arial"/>
              </a:rPr>
              <a:t>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63040"/>
            <a:ext cx="6583680" cy="4800600"/>
          </a:xfrm>
          <a:prstGeom prst="roundRect">
            <a:avLst>
              <a:gd name="adj" fmla="val 2000"/>
            </a:avLst>
          </a:prstGeom>
          <a:solidFill>
            <a:srgbClr val="F5F8FF"/>
          </a:solidFill>
          <a:ln w="12700">
            <a:solidFill>
              <a:srgbClr val="C9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463040"/>
            <a:ext cx="6583680" cy="502920"/>
          </a:xfrm>
          <a:prstGeom prst="rect">
            <a:avLst/>
          </a:prstGeom>
          <a:solidFill>
            <a:srgbClr val="132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kone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591056"/>
            <a:ext cx="777240" cy="31219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691640" y="1581912"/>
            <a:ext cx="896112" cy="30175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DAE4FF"/>
                </a:solidFill>
                <a:latin typeface="Arial"/>
              </a:rPr>
              <a:t>Home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87752" y="1581912"/>
            <a:ext cx="896112" cy="30175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DAE4FF"/>
                </a:solidFill>
                <a:latin typeface="Arial"/>
              </a:rPr>
              <a:t>Equipment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83864" y="1581912"/>
            <a:ext cx="896112" cy="30175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DAE4FF"/>
                </a:solidFill>
                <a:latin typeface="Arial"/>
              </a:rPr>
              <a:t>Delivery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79976" y="1581912"/>
            <a:ext cx="896112" cy="30175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DAE4FF"/>
                </a:solidFill>
                <a:latin typeface="Arial"/>
              </a:rPr>
              <a:t>Tenders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76088" y="1581912"/>
            <a:ext cx="896112" cy="30175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rial"/>
              </a:rPr>
              <a:t>Reports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49240" y="1901952"/>
            <a:ext cx="640080" cy="45720"/>
          </a:xfrm>
          <a:prstGeom prst="rect">
            <a:avLst/>
          </a:prstGeom>
          <a:solidFill>
            <a:srgbClr val="145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72200" y="1581912"/>
            <a:ext cx="896112" cy="30175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DAE4FF"/>
                </a:solidFill>
                <a:latin typeface="Arial"/>
              </a:rPr>
              <a:t>Invoices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2103120"/>
            <a:ext cx="621792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3234A"/>
                </a:solidFill>
                <a:latin typeface="Arial"/>
              </a:rPr>
              <a:t>Inspection report · Elevator 41230018 · Tower 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2606040"/>
            <a:ext cx="6126480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CE3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77240" y="2679192"/>
            <a:ext cx="91440" cy="512064"/>
          </a:xfrm>
          <a:prstGeom prst="rect">
            <a:avLst/>
          </a:prstGeom>
          <a:solidFill>
            <a:srgbClr val="E539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2761488"/>
            <a:ext cx="329184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50" b="0" i="0">
                <a:solidFill>
                  <a:srgbClr val="141414"/>
                </a:solidFill>
                <a:latin typeface="Arial"/>
              </a:rPr>
              <a:t>Car door safety contact worn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06240" y="2770632"/>
            <a:ext cx="1188720" cy="329184"/>
          </a:xfrm>
          <a:prstGeom prst="roundRect">
            <a:avLst>
              <a:gd name="adj" fmla="val 15000"/>
            </a:avLst>
          </a:prstGeom>
          <a:solidFill>
            <a:srgbClr val="E539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Safety issue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40680" y="2761488"/>
            <a:ext cx="146304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950" b="0" i="0">
                <a:solidFill>
                  <a:srgbClr val="5B6478"/>
                </a:solidFill>
                <a:latin typeface="Arial"/>
              </a:rPr>
              <a:t>Repair tender pending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3383280"/>
            <a:ext cx="6126480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CE3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77240" y="3456432"/>
            <a:ext cx="91440" cy="512064"/>
          </a:xfrm>
          <a:prstGeom prst="rect">
            <a:avLst/>
          </a:prstGeom>
          <a:solidFill>
            <a:srgbClr val="FF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0120" y="3538728"/>
            <a:ext cx="329184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50" b="0" i="0">
                <a:solidFill>
                  <a:srgbClr val="141414"/>
                </a:solidFill>
                <a:latin typeface="Arial"/>
              </a:rPr>
              <a:t>Pit lighting below required level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206240" y="3547872"/>
            <a:ext cx="1188720" cy="329184"/>
          </a:xfrm>
          <a:prstGeom prst="roundRect">
            <a:avLst>
              <a:gd name="adj" fmla="val 15000"/>
            </a:avLst>
          </a:prstGeom>
          <a:solidFill>
            <a:srgbClr val="FF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00" b="1" i="0">
                <a:solidFill>
                  <a:srgbClr val="13234A"/>
                </a:solidFill>
                <a:latin typeface="Arial"/>
              </a:rPr>
              <a:t>Active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40680" y="3538728"/>
            <a:ext cx="146304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950" b="0" i="0">
                <a:solidFill>
                  <a:srgbClr val="5B6478"/>
                </a:solidFill>
                <a:latin typeface="Arial"/>
              </a:rPr>
              <a:t>Open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77240" y="4160520"/>
            <a:ext cx="6126480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CE3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77240" y="4233672"/>
            <a:ext cx="91440" cy="512064"/>
          </a:xfrm>
          <a:prstGeom prst="rect">
            <a:avLst/>
          </a:prstGeom>
          <a:solidFill>
            <a:srgbClr val="03A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0120" y="4315968"/>
            <a:ext cx="329184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50" b="0" i="0">
                <a:solidFill>
                  <a:srgbClr val="141414"/>
                </a:solidFill>
                <a:latin typeface="Arial"/>
              </a:rPr>
              <a:t>Machine room labelling missing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206240" y="4325112"/>
            <a:ext cx="1188720" cy="329184"/>
          </a:xfrm>
          <a:prstGeom prst="roundRect">
            <a:avLst>
              <a:gd name="adj" fmla="val 15000"/>
            </a:avLst>
          </a:prstGeom>
          <a:solidFill>
            <a:srgbClr val="03A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Active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40680" y="4315968"/>
            <a:ext cx="146304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950" b="0" i="0">
                <a:solidFill>
                  <a:srgbClr val="5B6478"/>
                </a:solidFill>
                <a:latin typeface="Arial"/>
              </a:rPr>
              <a:t>Open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" y="5943600"/>
            <a:ext cx="621792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850" b="0" i="1">
                <a:solidFill>
                  <a:srgbClr val="5B6478"/>
                </a:solidFill>
                <a:latin typeface="Arial"/>
              </a:rPr>
              <a:t>Illustrative mock-up · sample data · statuses and tasks as shown in myKONE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543800" y="1344168"/>
            <a:ext cx="4160520" cy="4983480"/>
          </a:xfrm>
          <a:prstGeom prst="roundRect">
            <a:avLst>
              <a:gd name="adj" fmla="val 5000"/>
            </a:avLst>
          </a:prstGeom>
          <a:solidFill>
            <a:srgbClr val="C9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7498079" y="1280160"/>
            <a:ext cx="4160520" cy="4983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9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498079" y="1280160"/>
            <a:ext cx="4160520" cy="685800"/>
          </a:xfrm>
          <a:prstGeom prst="roundRect">
            <a:avLst>
              <a:gd name="adj" fmla="val 20000"/>
            </a:avLst>
          </a:prstGeom>
          <a:solidFill>
            <a:srgbClr val="145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498079" y="1691639"/>
            <a:ext cx="4160520" cy="274320"/>
          </a:xfrm>
          <a:prstGeom prst="rect">
            <a:avLst/>
          </a:prstGeom>
          <a:solidFill>
            <a:srgbClr val="145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Picture 38" descr="widget-robo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07807" y="1371600"/>
            <a:ext cx="566928" cy="484632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8229600" y="1353312"/>
            <a:ext cx="3246120" cy="3200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myKONE Assistant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0" y="1627631"/>
            <a:ext cx="324612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900" b="0" i="0">
                <a:solidFill>
                  <a:srgbClr val="DAE4FF"/>
                </a:solidFill>
                <a:latin typeface="Arial"/>
              </a:rPr>
              <a:t>● Online · powered by JarCube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193023" y="2103120"/>
            <a:ext cx="3328416" cy="457200"/>
          </a:xfrm>
          <a:prstGeom prst="roundRect">
            <a:avLst>
              <a:gd name="adj" fmla="val 20000"/>
            </a:avLst>
          </a:prstGeom>
          <a:solidFill>
            <a:srgbClr val="145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950" b="0" i="0">
                <a:solidFill>
                  <a:srgbClr val="FFFFFF"/>
                </a:solidFill>
                <a:latin typeface="Arial"/>
              </a:rPr>
              <a:t>Explain my latest inspection report in simple words.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635240" y="2651760"/>
            <a:ext cx="3328416" cy="1188720"/>
          </a:xfrm>
          <a:prstGeom prst="roundRect">
            <a:avLst>
              <a:gd name="adj" fmla="val 20000"/>
            </a:avLst>
          </a:prstGeom>
          <a:solidFill>
            <a:srgbClr val="E7ED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950" b="0" i="0">
                <a:solidFill>
                  <a:srgbClr val="141414"/>
                </a:solidFill>
                <a:latin typeface="Arial"/>
              </a:rPr>
              <a:t>3 findings. 1 is a safety issue: the car door safety contact is worn and should be fixed first. KONE has already prepared a repair tender for it. The other 2 are minor.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193023" y="3931920"/>
            <a:ext cx="3328416" cy="411480"/>
          </a:xfrm>
          <a:prstGeom prst="roundRect">
            <a:avLst>
              <a:gd name="adj" fmla="val 20000"/>
            </a:avLst>
          </a:prstGeom>
          <a:solidFill>
            <a:srgbClr val="145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950" b="0" i="0">
                <a:solidFill>
                  <a:srgbClr val="FFFFFF"/>
                </a:solidFill>
                <a:latin typeface="Arial"/>
              </a:rPr>
              <a:t>Can KONE fix the other two as well?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635240" y="4434840"/>
            <a:ext cx="3328416" cy="868680"/>
          </a:xfrm>
          <a:prstGeom prst="roundRect">
            <a:avLst>
              <a:gd name="adj" fmla="val 20000"/>
            </a:avLst>
          </a:prstGeom>
          <a:solidFill>
            <a:srgbClr val="E7ED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950" b="0" i="0">
                <a:solidFill>
                  <a:srgbClr val="141414"/>
                </a:solidFill>
                <a:latin typeface="Arial"/>
              </a:rPr>
              <a:t>I'll pass this to your KONE contact with the report attached. A ticket has been created and you'll get an answer by email.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635240" y="5760720"/>
            <a:ext cx="3886200" cy="384048"/>
          </a:xfrm>
          <a:prstGeom prst="roundRect">
            <a:avLst>
              <a:gd name="adj" fmla="val 50000"/>
            </a:avLst>
          </a:prstGeom>
          <a:solidFill>
            <a:srgbClr val="F5F8FF"/>
          </a:solidFill>
          <a:ln w="12700">
            <a:solidFill>
              <a:srgbClr val="C9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726679" y="5779007"/>
            <a:ext cx="3246120" cy="34747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900" b="0" i="0">
                <a:solidFill>
                  <a:srgbClr val="5B6478"/>
                </a:solidFill>
                <a:latin typeface="Arial"/>
              </a:rPr>
              <a:t>Ask about your equipment, projects, tenders…</a:t>
            </a:r>
          </a:p>
        </p:txBody>
      </p:sp>
      <p:sp>
        <p:nvSpPr>
          <p:cNvPr id="48" name="Oval 47"/>
          <p:cNvSpPr/>
          <p:nvPr/>
        </p:nvSpPr>
        <p:spPr>
          <a:xfrm>
            <a:off x="11155680" y="5797296"/>
            <a:ext cx="310896" cy="310896"/>
          </a:xfrm>
          <a:prstGeom prst="ellipse">
            <a:avLst/>
          </a:prstGeom>
          <a:solidFill>
            <a:srgbClr val="145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➤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5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875520" cy="6400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600" b="1" i="0">
                <a:solidFill>
                  <a:srgbClr val="13234A"/>
                </a:solidFill>
                <a:latin typeface="Arial"/>
              </a:rPr>
              <a:t>Use case 5 · Equipment status and visits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241280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500" b="0" i="0">
                <a:solidFill>
                  <a:srgbClr val="5B6478"/>
                </a:solidFill>
                <a:latin typeface="Arial"/>
              </a:rPr>
              <a:t>Context-aware: on the Equipment page the assistant already knows which unit the user is viewing</a:t>
            </a:r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1400" y="274320"/>
            <a:ext cx="640080" cy="640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00800"/>
            <a:ext cx="6400800" cy="3200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5B6478"/>
                </a:solidFill>
                <a:latin typeface="Arial"/>
              </a:rPr>
              <a:t>JarCube AI Assistant  ×  myKONE  |  v3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/>
            <a:r>
              <a:rPr sz="1000" b="0" i="0">
                <a:solidFill>
                  <a:srgbClr val="5B6478"/>
                </a:solidFill>
                <a:latin typeface="Arial"/>
              </a:rPr>
              <a:t>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63040"/>
            <a:ext cx="6583680" cy="4800600"/>
          </a:xfrm>
          <a:prstGeom prst="roundRect">
            <a:avLst>
              <a:gd name="adj" fmla="val 2000"/>
            </a:avLst>
          </a:prstGeom>
          <a:solidFill>
            <a:srgbClr val="F5F8FF"/>
          </a:solidFill>
          <a:ln w="12700">
            <a:solidFill>
              <a:srgbClr val="C9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463040"/>
            <a:ext cx="6583680" cy="502920"/>
          </a:xfrm>
          <a:prstGeom prst="rect">
            <a:avLst/>
          </a:prstGeom>
          <a:solidFill>
            <a:srgbClr val="132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kone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591056"/>
            <a:ext cx="777240" cy="31219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691640" y="1581912"/>
            <a:ext cx="896112" cy="30175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DAE4FF"/>
                </a:solidFill>
                <a:latin typeface="Arial"/>
              </a:rPr>
              <a:t>Home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87752" y="1581912"/>
            <a:ext cx="896112" cy="30175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rial"/>
              </a:rPr>
              <a:t>Equipment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60904" y="1901952"/>
            <a:ext cx="640080" cy="45720"/>
          </a:xfrm>
          <a:prstGeom prst="rect">
            <a:avLst/>
          </a:prstGeom>
          <a:solidFill>
            <a:srgbClr val="145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83864" y="1581912"/>
            <a:ext cx="896112" cy="30175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DAE4FF"/>
                </a:solidFill>
                <a:latin typeface="Arial"/>
              </a:rPr>
              <a:t>Delivery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79976" y="1581912"/>
            <a:ext cx="896112" cy="30175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DAE4FF"/>
                </a:solidFill>
                <a:latin typeface="Arial"/>
              </a:rPr>
              <a:t>Tenders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76088" y="1581912"/>
            <a:ext cx="896112" cy="30175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DAE4FF"/>
                </a:solidFill>
                <a:latin typeface="Arial"/>
              </a:rPr>
              <a:t>Reports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2200" y="1581912"/>
            <a:ext cx="896112" cy="30175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DAE4FF"/>
                </a:solidFill>
                <a:latin typeface="Arial"/>
              </a:rPr>
              <a:t>Invoices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2103120"/>
            <a:ext cx="594360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13234A"/>
                </a:solidFill>
                <a:latin typeface="Arial"/>
              </a:rPr>
              <a:t>Elevator 41230018 · Tower A, main lobby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2606040"/>
            <a:ext cx="2926080" cy="98755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CE3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2697480"/>
            <a:ext cx="2651760" cy="3200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5B6478"/>
                </a:solidFill>
                <a:latin typeface="Arial"/>
              </a:rPr>
              <a:t>Status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2990088"/>
            <a:ext cx="2651760" cy="5029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000" b="1" i="0">
                <a:solidFill>
                  <a:srgbClr val="E5391A"/>
                </a:solidFill>
                <a:latin typeface="Arial"/>
              </a:rPr>
              <a:t>Out of service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886200" y="2606040"/>
            <a:ext cx="2926080" cy="98755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CE3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023360" y="2697480"/>
            <a:ext cx="2651760" cy="3200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5B6478"/>
                </a:solidFill>
                <a:latin typeface="Arial"/>
              </a:rPr>
              <a:t>Open work order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23360" y="2990088"/>
            <a:ext cx="2651760" cy="5029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000" b="1" i="0">
                <a:solidFill>
                  <a:srgbClr val="FFAB00"/>
                </a:solidFill>
                <a:latin typeface="Arial"/>
              </a:rPr>
              <a:t>Callout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" y="3749039"/>
            <a:ext cx="2926080" cy="98755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CE3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3840479"/>
            <a:ext cx="2651760" cy="3200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5B6478"/>
                </a:solidFill>
                <a:latin typeface="Arial"/>
              </a:rPr>
              <a:t>Technician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4133087"/>
            <a:ext cx="2651760" cy="5029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000" b="1" i="0">
                <a:solidFill>
                  <a:srgbClr val="1450F5"/>
                </a:solidFill>
                <a:latin typeface="Arial"/>
              </a:rPr>
              <a:t>On the way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886200" y="3749039"/>
            <a:ext cx="2926080" cy="98755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CE3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023360" y="3840479"/>
            <a:ext cx="2651760" cy="3200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5B6478"/>
                </a:solidFill>
                <a:latin typeface="Arial"/>
              </a:rPr>
              <a:t>Last visit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023360" y="4133087"/>
            <a:ext cx="2651760" cy="5029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000" b="1" i="0">
                <a:solidFill>
                  <a:srgbClr val="13234A"/>
                </a:solidFill>
                <a:latin typeface="Arial"/>
              </a:rPr>
              <a:t>29 Sep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77240" y="4983480"/>
            <a:ext cx="1143000" cy="384048"/>
          </a:xfrm>
          <a:prstGeom prst="roundRect">
            <a:avLst>
              <a:gd name="adj" fmla="val 15000"/>
            </a:avLst>
          </a:prstGeom>
          <a:solidFill>
            <a:srgbClr val="2EA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850" b="1" i="0">
                <a:solidFill>
                  <a:srgbClr val="FFFFFF"/>
                </a:solidFill>
                <a:latin typeface="Arial"/>
              </a:rPr>
              <a:t>Created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002536" y="4983480"/>
            <a:ext cx="1143000" cy="384048"/>
          </a:xfrm>
          <a:prstGeom prst="roundRect">
            <a:avLst>
              <a:gd name="adj" fmla="val 15000"/>
            </a:avLst>
          </a:prstGeom>
          <a:solidFill>
            <a:srgbClr val="2EA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850" b="1" i="0">
                <a:solidFill>
                  <a:srgbClr val="FFFFFF"/>
                </a:solidFill>
                <a:latin typeface="Arial"/>
              </a:rPr>
              <a:t>Technician assigned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227832" y="4983480"/>
            <a:ext cx="1143000" cy="384048"/>
          </a:xfrm>
          <a:prstGeom prst="roundRect">
            <a:avLst>
              <a:gd name="adj" fmla="val 15000"/>
            </a:avLst>
          </a:prstGeom>
          <a:solidFill>
            <a:srgbClr val="145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850" b="1" i="0">
                <a:solidFill>
                  <a:srgbClr val="FFFFFF"/>
                </a:solidFill>
                <a:latin typeface="Arial"/>
              </a:rPr>
              <a:t>On the way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453128" y="4983480"/>
            <a:ext cx="1143000" cy="384048"/>
          </a:xfrm>
          <a:prstGeom prst="roundRect">
            <a:avLst>
              <a:gd name="adj" fmla="val 15000"/>
            </a:avLst>
          </a:prstGeom>
          <a:solidFill>
            <a:srgbClr val="C9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850" b="1" i="0">
                <a:solidFill>
                  <a:srgbClr val="FFFFFF"/>
                </a:solidFill>
                <a:latin typeface="Arial"/>
              </a:rPr>
              <a:t>Arrived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678424" y="4983480"/>
            <a:ext cx="1143000" cy="384048"/>
          </a:xfrm>
          <a:prstGeom prst="roundRect">
            <a:avLst>
              <a:gd name="adj" fmla="val 15000"/>
            </a:avLst>
          </a:prstGeom>
          <a:solidFill>
            <a:srgbClr val="C9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850" b="1" i="0">
                <a:solidFill>
                  <a:srgbClr val="FFFFFF"/>
                </a:solidFill>
                <a:latin typeface="Arial"/>
              </a:rPr>
              <a:t>Visit done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" y="5943600"/>
            <a:ext cx="621792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850" b="0" i="1">
                <a:solidFill>
                  <a:srgbClr val="5B6478"/>
                </a:solidFill>
                <a:latin typeface="Arial"/>
              </a:rPr>
              <a:t>Illustrative mock-up · sample data · statuses and tasks as shown in myKONE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543800" y="1344168"/>
            <a:ext cx="4160520" cy="4983480"/>
          </a:xfrm>
          <a:prstGeom prst="roundRect">
            <a:avLst>
              <a:gd name="adj" fmla="val 5000"/>
            </a:avLst>
          </a:prstGeom>
          <a:solidFill>
            <a:srgbClr val="C9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7498079" y="1280160"/>
            <a:ext cx="4160520" cy="4983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9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7498079" y="1280160"/>
            <a:ext cx="4160520" cy="685800"/>
          </a:xfrm>
          <a:prstGeom prst="roundRect">
            <a:avLst>
              <a:gd name="adj" fmla="val 20000"/>
            </a:avLst>
          </a:prstGeom>
          <a:solidFill>
            <a:srgbClr val="145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498079" y="1691639"/>
            <a:ext cx="4160520" cy="274320"/>
          </a:xfrm>
          <a:prstGeom prst="rect">
            <a:avLst/>
          </a:prstGeom>
          <a:solidFill>
            <a:srgbClr val="145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widget-robo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07807" y="1371600"/>
            <a:ext cx="566928" cy="484632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8229600" y="1353312"/>
            <a:ext cx="3246120" cy="3200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myKONE Assistant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29600" y="1627631"/>
            <a:ext cx="324612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900" b="0" i="0">
                <a:solidFill>
                  <a:srgbClr val="DAE4FF"/>
                </a:solidFill>
                <a:latin typeface="Arial"/>
              </a:rPr>
              <a:t>● Online · powered by JarCube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193023" y="2103120"/>
            <a:ext cx="3328416" cy="384048"/>
          </a:xfrm>
          <a:prstGeom prst="roundRect">
            <a:avLst>
              <a:gd name="adj" fmla="val 20000"/>
            </a:avLst>
          </a:prstGeom>
          <a:solidFill>
            <a:srgbClr val="145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950" b="0" i="0">
                <a:solidFill>
                  <a:srgbClr val="FFFFFF"/>
                </a:solidFill>
                <a:latin typeface="Arial"/>
              </a:rPr>
              <a:t>Why is this elevator not working?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635240" y="2578608"/>
            <a:ext cx="3328416" cy="868680"/>
          </a:xfrm>
          <a:prstGeom prst="roundRect">
            <a:avLst>
              <a:gd name="adj" fmla="val 20000"/>
            </a:avLst>
          </a:prstGeom>
          <a:solidFill>
            <a:srgbClr val="E7ED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950" b="0" i="0">
                <a:solidFill>
                  <a:srgbClr val="141414"/>
                </a:solidFill>
                <a:latin typeface="Arial"/>
              </a:rPr>
              <a:t>Elevator 41230018 has been out of service since 10:12 today. A callout is open and the technician is on the way.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193023" y="3538728"/>
            <a:ext cx="3328416" cy="365760"/>
          </a:xfrm>
          <a:prstGeom prst="roundRect">
            <a:avLst>
              <a:gd name="adj" fmla="val 20000"/>
            </a:avLst>
          </a:prstGeom>
          <a:solidFill>
            <a:srgbClr val="145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950" b="0" i="0">
                <a:solidFill>
                  <a:srgbClr val="FFFFFF"/>
                </a:solidFill>
                <a:latin typeface="Arial"/>
              </a:rPr>
              <a:t>When was it last serviced?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635240" y="3995928"/>
            <a:ext cx="3328416" cy="594360"/>
          </a:xfrm>
          <a:prstGeom prst="roundRect">
            <a:avLst>
              <a:gd name="adj" fmla="val 20000"/>
            </a:avLst>
          </a:prstGeom>
          <a:solidFill>
            <a:srgbClr val="E7ED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950" b="0" i="0">
                <a:solidFill>
                  <a:srgbClr val="141414"/>
                </a:solidFill>
                <a:latin typeface="Arial"/>
              </a:rPr>
              <a:t>The last maintenance visit was 29 Sep. 2 callouts in the last 90 days.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193023" y="4681728"/>
            <a:ext cx="3328416" cy="365760"/>
          </a:xfrm>
          <a:prstGeom prst="roundRect">
            <a:avLst>
              <a:gd name="adj" fmla="val 20000"/>
            </a:avLst>
          </a:prstGeom>
          <a:solidFill>
            <a:srgbClr val="145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950" b="0" i="0">
                <a:solidFill>
                  <a:srgbClr val="FFFFFF"/>
                </a:solidFill>
                <a:latin typeface="Arial"/>
              </a:rPr>
              <a:t>Someone is stuck in the lift!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635240" y="5138928"/>
            <a:ext cx="3328416" cy="868680"/>
          </a:xfrm>
          <a:prstGeom prst="roundRect">
            <a:avLst>
              <a:gd name="adj" fmla="val 20000"/>
            </a:avLst>
          </a:prstGeom>
          <a:solidFill>
            <a:srgbClr val="E7ED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950" b="0" i="0">
                <a:solidFill>
                  <a:srgbClr val="141414"/>
                </a:solidFill>
                <a:latin typeface="Arial"/>
              </a:rPr>
              <a:t>Call KONE's 24/7 service line now: [local number]. Emergency button: press the alarm in the car. I can't handle emergencies in chat.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635240" y="5760720"/>
            <a:ext cx="3886200" cy="384048"/>
          </a:xfrm>
          <a:prstGeom prst="roundRect">
            <a:avLst>
              <a:gd name="adj" fmla="val 50000"/>
            </a:avLst>
          </a:prstGeom>
          <a:solidFill>
            <a:srgbClr val="F5F8FF"/>
          </a:solidFill>
          <a:ln w="12700">
            <a:solidFill>
              <a:srgbClr val="C9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726679" y="5779007"/>
            <a:ext cx="3246120" cy="34747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900" b="0" i="0">
                <a:solidFill>
                  <a:srgbClr val="5B6478"/>
                </a:solidFill>
                <a:latin typeface="Arial"/>
              </a:rPr>
              <a:t>Ask about your equipment, projects, tenders…</a:t>
            </a:r>
          </a:p>
        </p:txBody>
      </p:sp>
      <p:sp>
        <p:nvSpPr>
          <p:cNvPr id="52" name="Oval 51"/>
          <p:cNvSpPr/>
          <p:nvPr/>
        </p:nvSpPr>
        <p:spPr>
          <a:xfrm>
            <a:off x="11155680" y="5797296"/>
            <a:ext cx="310896" cy="310896"/>
          </a:xfrm>
          <a:prstGeom prst="ellipse">
            <a:avLst/>
          </a:prstGeom>
          <a:solidFill>
            <a:srgbClr val="145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➤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5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875520" cy="6400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600" b="1" i="0">
                <a:solidFill>
                  <a:srgbClr val="13234A"/>
                </a:solidFill>
                <a:latin typeface="Arial"/>
              </a:rPr>
              <a:t>Use case 6 · Quick questions, instant 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241280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500" b="0" i="0">
                <a:solidFill>
                  <a:srgbClr val="5B6478"/>
                </a:solidFill>
                <a:latin typeface="Arial"/>
              </a:rPr>
              <a:t>Grounded in approved myKONE guides and FAQs. No navigation and no email needed</a:t>
            </a:r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1400" y="274320"/>
            <a:ext cx="640080" cy="640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00800"/>
            <a:ext cx="6400800" cy="3200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5B6478"/>
                </a:solidFill>
                <a:latin typeface="Arial"/>
              </a:rPr>
              <a:t>JarCube AI Assistant  ×  myKONE  |  v3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/>
            <a:r>
              <a:rPr sz="1000" b="0" i="0">
                <a:solidFill>
                  <a:srgbClr val="5B6478"/>
                </a:solidFill>
                <a:latin typeface="Arial"/>
              </a:rP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508760"/>
            <a:ext cx="5394960" cy="896112"/>
          </a:xfrm>
          <a:prstGeom prst="roundRect">
            <a:avLst>
              <a:gd name="adj" fmla="val 15000"/>
            </a:avLst>
          </a:prstGeom>
          <a:solidFill>
            <a:srgbClr val="F5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600200"/>
            <a:ext cx="548640" cy="71323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2000" b="0" i="0">
                <a:solidFill>
                  <a:srgbClr val="1450F5"/>
                </a:solidFill>
                <a:latin typeface="Arial"/>
              </a:rPr>
              <a:t>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1600200"/>
            <a:ext cx="3291840" cy="71323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300" b="1" i="0">
                <a:solidFill>
                  <a:srgbClr val="13234A"/>
                </a:solidFill>
                <a:latin typeface="Arial"/>
              </a:rPr>
              <a:t>How do I add a new user to my company account?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1773936"/>
            <a:ext cx="123444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1450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50" b="1" i="0">
                <a:solidFill>
                  <a:srgbClr val="1450F5"/>
                </a:solidFill>
                <a:latin typeface="Arial"/>
              </a:rPr>
              <a:t>Portal how-to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508760"/>
            <a:ext cx="5394960" cy="896112"/>
          </a:xfrm>
          <a:prstGeom prst="roundRect">
            <a:avLst>
              <a:gd name="adj" fmla="val 15000"/>
            </a:avLst>
          </a:prstGeom>
          <a:solidFill>
            <a:srgbClr val="F5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600200"/>
            <a:ext cx="548640" cy="71323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2000" b="0" i="0">
                <a:solidFill>
                  <a:srgbClr val="1450F5"/>
                </a:solidFill>
                <a:latin typeface="Arial"/>
              </a:rPr>
              <a:t>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0" y="1600200"/>
            <a:ext cx="3291840" cy="71323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300" b="1" i="0">
                <a:solidFill>
                  <a:srgbClr val="13234A"/>
                </a:solidFill>
                <a:latin typeface="Arial"/>
              </a:rPr>
              <a:t>Where can I download my September invoice?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241280" y="1773936"/>
            <a:ext cx="123444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1450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50" b="1" i="0">
                <a:solidFill>
                  <a:srgbClr val="1450F5"/>
                </a:solidFill>
                <a:latin typeface="Arial"/>
              </a:rPr>
              <a:t>Invoices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2560320"/>
            <a:ext cx="5394960" cy="896112"/>
          </a:xfrm>
          <a:prstGeom prst="roundRect">
            <a:avLst>
              <a:gd name="adj" fmla="val 15000"/>
            </a:avLst>
          </a:prstGeom>
          <a:solidFill>
            <a:srgbClr val="F5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2651760"/>
            <a:ext cx="548640" cy="71323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2000" b="0" i="0">
                <a:solidFill>
                  <a:srgbClr val="1450F5"/>
                </a:solidFill>
                <a:latin typeface="Arial"/>
              </a:rPr>
              <a:t>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2651760"/>
            <a:ext cx="3291840" cy="71323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300" b="1" i="0">
                <a:solidFill>
                  <a:srgbClr val="13234A"/>
                </a:solidFill>
                <a:latin typeface="Arial"/>
              </a:rPr>
              <a:t>What does ‘Waiting for PO number’ mean?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0" y="2825496"/>
            <a:ext cx="123444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1450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50" b="1" i="0">
                <a:solidFill>
                  <a:srgbClr val="1450F5"/>
                </a:solidFill>
                <a:latin typeface="Arial"/>
              </a:rPr>
              <a:t>Status meaning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2560320"/>
            <a:ext cx="5394960" cy="896112"/>
          </a:xfrm>
          <a:prstGeom prst="roundRect">
            <a:avLst>
              <a:gd name="adj" fmla="val 15000"/>
            </a:avLst>
          </a:prstGeom>
          <a:solidFill>
            <a:srgbClr val="F5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80" y="2651760"/>
            <a:ext cx="548640" cy="71323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2000" b="0" i="0">
                <a:solidFill>
                  <a:srgbClr val="1450F5"/>
                </a:solidFill>
                <a:latin typeface="Arial"/>
              </a:rPr>
              <a:t>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0" y="2651760"/>
            <a:ext cx="3291840" cy="71323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300" b="1" i="0">
                <a:solidFill>
                  <a:srgbClr val="13234A"/>
                </a:solidFill>
                <a:latin typeface="Arial"/>
              </a:rPr>
              <a:t>Why can't I see the Invoices page?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241280" y="2825496"/>
            <a:ext cx="123444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1450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50" b="1" i="0">
                <a:solidFill>
                  <a:srgbClr val="1450F5"/>
                </a:solidFill>
                <a:latin typeface="Arial"/>
              </a:rPr>
              <a:t>Access &amp; roles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3611879"/>
            <a:ext cx="5394960" cy="896112"/>
          </a:xfrm>
          <a:prstGeom prst="roundRect">
            <a:avLst>
              <a:gd name="adj" fmla="val 15000"/>
            </a:avLst>
          </a:prstGeom>
          <a:solidFill>
            <a:srgbClr val="F5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3703320"/>
            <a:ext cx="548640" cy="71323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2000" b="0" i="0">
                <a:solidFill>
                  <a:srgbClr val="1450F5"/>
                </a:solidFill>
                <a:latin typeface="Arial"/>
              </a:rPr>
              <a:t>💬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80160" y="3703320"/>
            <a:ext cx="3291840" cy="71323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300" b="1" i="0">
                <a:solidFill>
                  <a:srgbClr val="13234A"/>
                </a:solidFill>
                <a:latin typeface="Arial"/>
              </a:rPr>
              <a:t>What do I need to prepare before installation?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0" y="3877055"/>
            <a:ext cx="123444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1450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50" b="1" i="0">
                <a:solidFill>
                  <a:srgbClr val="1450F5"/>
                </a:solidFill>
                <a:latin typeface="Arial"/>
              </a:rPr>
              <a:t>Delivery process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0" y="3611879"/>
            <a:ext cx="5394960" cy="896112"/>
          </a:xfrm>
          <a:prstGeom prst="roundRect">
            <a:avLst>
              <a:gd name="adj" fmla="val 15000"/>
            </a:avLst>
          </a:prstGeom>
          <a:solidFill>
            <a:srgbClr val="F5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5080" y="3703320"/>
            <a:ext cx="548640" cy="71323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2000" b="0" i="0">
                <a:solidFill>
                  <a:srgbClr val="1450F5"/>
                </a:solidFill>
                <a:latin typeface="Arial"/>
              </a:rPr>
              <a:t>💬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49440" y="3703320"/>
            <a:ext cx="3291840" cy="71323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300" b="1" i="0">
                <a:solidFill>
                  <a:srgbClr val="13234A"/>
                </a:solidFill>
                <a:latin typeface="Arial"/>
              </a:rPr>
              <a:t>Who is my KONE contact for this site?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241280" y="3877055"/>
            <a:ext cx="123444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1450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50" b="1" i="0">
                <a:solidFill>
                  <a:srgbClr val="1450F5"/>
                </a:solidFill>
                <a:latin typeface="Arial"/>
              </a:rPr>
              <a:t>Contacts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4800600"/>
            <a:ext cx="11109960" cy="1371600"/>
          </a:xfrm>
          <a:prstGeom prst="roundRect">
            <a:avLst>
              <a:gd name="adj" fmla="val 10000"/>
            </a:avLst>
          </a:prstGeom>
          <a:solidFill>
            <a:srgbClr val="132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1520" y="4937760"/>
            <a:ext cx="2560320" cy="5486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"/>
              </a:rPr>
              <a:t>24×7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486400"/>
            <a:ext cx="2560320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200" b="0" i="0">
                <a:solidFill>
                  <a:srgbClr val="DAE4FF"/>
                </a:solidFill>
                <a:latin typeface="Arial"/>
              </a:rPr>
              <a:t>always available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474720" y="4937760"/>
            <a:ext cx="2560320" cy="5486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"/>
              </a:rPr>
              <a:t>Seconds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74720" y="5486400"/>
            <a:ext cx="2560320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200" b="0" i="0">
                <a:solidFill>
                  <a:srgbClr val="DAE4FF"/>
                </a:solidFill>
                <a:latin typeface="Arial"/>
              </a:rPr>
              <a:t>instead of days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7920" y="4937760"/>
            <a:ext cx="2560320" cy="5486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"/>
              </a:rPr>
              <a:t>Approved content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0" y="5486400"/>
            <a:ext cx="2560320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200" b="0" i="0">
                <a:solidFill>
                  <a:srgbClr val="DAE4FF"/>
                </a:solidFill>
                <a:latin typeface="Arial"/>
              </a:rPr>
              <a:t>only, nothing invented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61120" y="4937760"/>
            <a:ext cx="2560320" cy="5486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"/>
              </a:rPr>
              <a:t>Learns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961120" y="5486400"/>
            <a:ext cx="2560320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200" b="0" i="0">
                <a:solidFill>
                  <a:srgbClr val="DAE4FF"/>
                </a:solidFill>
                <a:latin typeface="Arial"/>
              </a:rPr>
              <a:t>from unanswered questions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5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875520" cy="6400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600" b="1" i="0">
                <a:solidFill>
                  <a:srgbClr val="13234A"/>
                </a:solidFill>
                <a:latin typeface="Arial"/>
              </a:rPr>
              <a:t>Hand over: people step in when they add value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241280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500" b="0" i="0">
                <a:solidFill>
                  <a:srgbClr val="5B6478"/>
                </a:solidFill>
                <a:latin typeface="Arial"/>
              </a:rPr>
              <a:t>The bot knows its limits. Complex, sensitive or low-confidence questions go to a KONE specialist</a:t>
            </a:r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1400" y="274320"/>
            <a:ext cx="640080" cy="640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00800"/>
            <a:ext cx="6400800" cy="3200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5B6478"/>
                </a:solidFill>
                <a:latin typeface="Arial"/>
              </a:rPr>
              <a:t>JarCube AI Assistant  ×  myKONE  |  v3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/>
            <a:r>
              <a:rPr sz="1000" b="0" i="0">
                <a:solidFill>
                  <a:srgbClr val="5B6478"/>
                </a:solidFill>
                <a:latin typeface="Arial"/>
              </a:rP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651760"/>
            <a:ext cx="2011680" cy="1005840"/>
          </a:xfrm>
          <a:prstGeom prst="roundRect">
            <a:avLst>
              <a:gd name="adj" fmla="val 15000"/>
            </a:avLst>
          </a:prstGeom>
          <a:solidFill>
            <a:srgbClr val="132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Customer asks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578608" y="3154680"/>
            <a:ext cx="530352" cy="0"/>
          </a:xfrm>
          <a:prstGeom prst="line">
            <a:avLst/>
          </a:prstGeom>
          <a:ln w="31750">
            <a:solidFill>
              <a:srgbClr val="1450F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154680" y="2514600"/>
            <a:ext cx="2286000" cy="1280160"/>
          </a:xfrm>
          <a:prstGeom prst="roundRect">
            <a:avLst>
              <a:gd name="adj" fmla="val 15000"/>
            </a:avLst>
          </a:prstGeom>
          <a:solidFill>
            <a:srgbClr val="145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Assistant checks: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confident? allowed?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emergency?</a:t>
            </a:r>
          </a:p>
        </p:txBody>
      </p:sp>
      <p:cxnSp>
        <p:nvCxnSpPr>
          <p:cNvPr id="11" name="Connector 10"/>
          <p:cNvCxnSpPr/>
          <p:nvPr/>
        </p:nvCxnSpPr>
        <p:spPr>
          <a:xfrm flipV="1">
            <a:off x="5458968" y="1984248"/>
            <a:ext cx="713232" cy="1170432"/>
          </a:xfrm>
          <a:prstGeom prst="line">
            <a:avLst/>
          </a:prstGeom>
          <a:ln w="25400">
            <a:solidFill>
              <a:srgbClr val="2EAD5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217920" y="1600200"/>
            <a:ext cx="3108960" cy="777240"/>
          </a:xfrm>
          <a:prstGeom prst="roundRect">
            <a:avLst>
              <a:gd name="adj" fmla="val 15000"/>
            </a:avLst>
          </a:prstGeom>
          <a:solidFill>
            <a:srgbClr val="E6F6EC"/>
          </a:solidFill>
          <a:ln w="12700">
            <a:solidFill>
              <a:srgbClr val="2EAD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 i="0">
                <a:solidFill>
                  <a:srgbClr val="13234A"/>
                </a:solidFill>
                <a:latin typeface="Arial"/>
              </a:rPr>
              <a:t>✅  Answer instantly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5458968" y="2944368"/>
            <a:ext cx="713232" cy="210312"/>
          </a:xfrm>
          <a:prstGeom prst="line">
            <a:avLst/>
          </a:prstGeom>
          <a:ln w="25400">
            <a:solidFill>
              <a:srgbClr val="FFAB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217920" y="2560320"/>
            <a:ext cx="3108960" cy="777240"/>
          </a:xfrm>
          <a:prstGeom prst="roundRect">
            <a:avLst>
              <a:gd name="adj" fmla="val 15000"/>
            </a:avLst>
          </a:prstGeom>
          <a:solidFill>
            <a:srgbClr val="FFF6E0"/>
          </a:solidFill>
          <a:ln w="12700">
            <a:solidFill>
              <a:srgbClr val="FF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 i="0">
                <a:solidFill>
                  <a:srgbClr val="13234A"/>
                </a:solidFill>
                <a:latin typeface="Arial"/>
              </a:rPr>
              <a:t>🙋  Specialist joins the chat live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458968" y="3154680"/>
            <a:ext cx="713232" cy="749808"/>
          </a:xfrm>
          <a:prstGeom prst="line">
            <a:avLst/>
          </a:prstGeom>
          <a:ln w="25400">
            <a:solidFill>
              <a:srgbClr val="FFAB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217920" y="3520440"/>
            <a:ext cx="3108960" cy="777240"/>
          </a:xfrm>
          <a:prstGeom prst="roundRect">
            <a:avLst>
              <a:gd name="adj" fmla="val 15000"/>
            </a:avLst>
          </a:prstGeom>
          <a:solidFill>
            <a:srgbClr val="FFF6E0"/>
          </a:solidFill>
          <a:ln w="12700">
            <a:solidFill>
              <a:srgbClr val="FF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 i="0">
                <a:solidFill>
                  <a:srgbClr val="13234A"/>
                </a:solidFill>
                <a:latin typeface="Arial"/>
              </a:rPr>
              <a:t>🎫  Ticket with full chat history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458968" y="3154680"/>
            <a:ext cx="713232" cy="1709928"/>
          </a:xfrm>
          <a:prstGeom prst="line">
            <a:avLst/>
          </a:prstGeom>
          <a:ln w="25400">
            <a:solidFill>
              <a:srgbClr val="E539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217920" y="4480560"/>
            <a:ext cx="3108960" cy="777240"/>
          </a:xfrm>
          <a:prstGeom prst="roundRect">
            <a:avLst>
              <a:gd name="adj" fmla="val 15000"/>
            </a:avLst>
          </a:prstGeom>
          <a:solidFill>
            <a:srgbClr val="FFF1EE"/>
          </a:solidFill>
          <a:ln w="12700">
            <a:solidFill>
              <a:srgbClr val="E539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 i="0">
                <a:solidFill>
                  <a:srgbClr val="13234A"/>
                </a:solidFill>
                <a:latin typeface="Arial"/>
              </a:rPr>
              <a:t>🚨  Emergency: show KONE 24/7 number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555480" y="1600200"/>
            <a:ext cx="2103120" cy="3657600"/>
          </a:xfrm>
          <a:prstGeom prst="roundRect">
            <a:avLst>
              <a:gd name="adj" fmla="val 8000"/>
            </a:avLst>
          </a:prstGeom>
          <a:solidFill>
            <a:srgbClr val="F5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555480" y="1764792"/>
            <a:ext cx="73152" cy="3328416"/>
          </a:xfrm>
          <a:prstGeom prst="rect">
            <a:avLst/>
          </a:prstGeom>
          <a:solidFill>
            <a:srgbClr val="2EA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56648" y="1709928"/>
            <a:ext cx="1783079" cy="4114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3234A"/>
                </a:solidFill>
                <a:latin typeface="Arial"/>
              </a:rPr>
              <a:t>Specialists get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56648" y="2130552"/>
            <a:ext cx="1783079" cy="30632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50" b="0" i="0">
                <a:solidFill>
                  <a:srgbClr val="5B6478"/>
                </a:solidFill>
                <a:latin typeface="Arial"/>
              </a:rPr>
              <a:t>• The whole conversation</a:t>
            </a:r>
          </a:p>
          <a:p>
            <a:pPr algn="l"/>
            <a:r>
              <a:rPr sz="1150" b="0" i="0">
                <a:solidFill>
                  <a:srgbClr val="5B6478"/>
                </a:solidFill>
                <a:latin typeface="Arial"/>
              </a:rPr>
              <a:t>• Customer &amp; equipment context</a:t>
            </a:r>
          </a:p>
          <a:p>
            <a:pPr algn="l"/>
            <a:r>
              <a:rPr sz="1150" b="0" i="0">
                <a:solidFill>
                  <a:srgbClr val="5B6478"/>
                </a:solidFill>
                <a:latin typeface="Arial"/>
              </a:rPr>
              <a:t>• Priority &amp; owner</a:t>
            </a:r>
          </a:p>
          <a:p>
            <a:pPr algn="l"/>
            <a:r>
              <a:rPr sz="1150" b="0" i="0">
                <a:solidFill>
                  <a:srgbClr val="5B6478"/>
                </a:solidFill>
                <a:latin typeface="Arial"/>
              </a:rPr>
              <a:t>• Takeover in one click</a:t>
            </a:r>
          </a:p>
          <a:p>
            <a:pPr algn="l"/>
            <a:r>
              <a:rPr sz="1150" b="0" i="0">
                <a:solidFill>
                  <a:srgbClr val="5B6478"/>
                </a:solidFill>
                <a:latin typeface="Arial"/>
              </a:rPr>
              <a:t/>
            </a:r>
          </a:p>
          <a:p>
            <a:pPr algn="l"/>
            <a:r>
              <a:rPr sz="1150" b="0" i="0">
                <a:solidFill>
                  <a:srgbClr val="5B6478"/>
                </a:solidFill>
                <a:latin typeface="Arial"/>
              </a:rPr>
              <a:t>Later: tickets synced to ServiceNow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623560"/>
            <a:ext cx="11109960" cy="548640"/>
          </a:xfrm>
          <a:prstGeom prst="roundRect">
            <a:avLst>
              <a:gd name="adj" fmla="val 15000"/>
            </a:avLst>
          </a:prstGeom>
          <a:solidFill>
            <a:srgbClr val="E7ED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0" i="0">
                <a:solidFill>
                  <a:srgbClr val="13234A"/>
                </a:solidFill>
                <a:latin typeface="Arial"/>
              </a:rPr>
              <a:t>Every unanswered question goes to the Question Bank. The team teaches the bot and it improves every week.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5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875520" cy="6400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600" b="1" i="0">
                <a:solidFill>
                  <a:srgbClr val="13234A"/>
                </a:solidFill>
                <a:latin typeface="Arial"/>
              </a:rPr>
              <a:t>Coming next · Screenshot help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241280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500" b="0" i="0">
                <a:solidFill>
                  <a:srgbClr val="5B6478"/>
                </a:solidFill>
                <a:latin typeface="Arial"/>
              </a:rPr>
              <a:t>From Smart Assist: users upload a screenshot of what confuses them and get guidance for that exact screen</a:t>
            </a:r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1400" y="274320"/>
            <a:ext cx="640080" cy="640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00800"/>
            <a:ext cx="6400800" cy="3200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5B6478"/>
                </a:solidFill>
                <a:latin typeface="Arial"/>
              </a:rPr>
              <a:t>JarCube AI Assistant  ×  myKONE  |  v3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/>
            <a:r>
              <a:rPr sz="1000" b="0" i="0">
                <a:solidFill>
                  <a:srgbClr val="5B6478"/>
                </a:solidFill>
                <a:latin typeface="Arial"/>
              </a:rP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435608"/>
            <a:ext cx="4572000" cy="4846320"/>
          </a:xfrm>
          <a:prstGeom prst="roundRect">
            <a:avLst>
              <a:gd name="adj" fmla="val 5000"/>
            </a:avLst>
          </a:prstGeom>
          <a:solidFill>
            <a:srgbClr val="C9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1371600"/>
            <a:ext cx="4572000" cy="4846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9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48640" y="1371600"/>
            <a:ext cx="4572000" cy="685800"/>
          </a:xfrm>
          <a:prstGeom prst="roundRect">
            <a:avLst>
              <a:gd name="adj" fmla="val 20000"/>
            </a:avLst>
          </a:prstGeom>
          <a:solidFill>
            <a:srgbClr val="145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783080"/>
            <a:ext cx="4572000" cy="274320"/>
          </a:xfrm>
          <a:prstGeom prst="rect">
            <a:avLst/>
          </a:prstGeom>
          <a:solidFill>
            <a:srgbClr val="145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widget-rob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463040"/>
            <a:ext cx="566928" cy="48463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280160" y="1444752"/>
            <a:ext cx="3657600" cy="3200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myKONE Assistant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1719072"/>
            <a:ext cx="36576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900" b="0" i="0">
                <a:solidFill>
                  <a:srgbClr val="DAE4FF"/>
                </a:solidFill>
                <a:latin typeface="Arial"/>
              </a:rPr>
              <a:t>● Online · powered by JarCube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325879" y="2194560"/>
            <a:ext cx="3657600" cy="777240"/>
          </a:xfrm>
          <a:prstGeom prst="roundRect">
            <a:avLst>
              <a:gd name="adj" fmla="val 20000"/>
            </a:avLst>
          </a:prstGeom>
          <a:solidFill>
            <a:srgbClr val="145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950" b="0" i="0">
                <a:solidFill>
                  <a:srgbClr val="FFFFFF"/>
                </a:solidFill>
                <a:latin typeface="Arial"/>
              </a:rPr>
              <a:t>[ screenshot: Tender page with greyed-out Approve button ]</a:t>
            </a:r>
          </a:p>
          <a:p>
            <a:pPr algn="l"/>
            <a:r>
              <a:rPr sz="950" b="0" i="0">
                <a:solidFill>
                  <a:srgbClr val="FFFFFF"/>
                </a:solidFill>
                <a:latin typeface="Arial"/>
              </a:rPr>
              <a:t>Why can't I approve this?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063239"/>
            <a:ext cx="3657600" cy="777240"/>
          </a:xfrm>
          <a:prstGeom prst="roundRect">
            <a:avLst>
              <a:gd name="adj" fmla="val 20000"/>
            </a:avLst>
          </a:prstGeom>
          <a:solidFill>
            <a:srgbClr val="E7ED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950" b="0" i="0">
                <a:solidFill>
                  <a:srgbClr val="141414"/>
                </a:solidFill>
                <a:latin typeface="Arial"/>
              </a:rPr>
              <a:t>Approving repair tenders needs the 'approve repair tenders' permission. Your role doesn't include it.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931920"/>
            <a:ext cx="3657600" cy="777240"/>
          </a:xfrm>
          <a:prstGeom prst="roundRect">
            <a:avLst>
              <a:gd name="adj" fmla="val 20000"/>
            </a:avLst>
          </a:prstGeom>
          <a:solidFill>
            <a:srgbClr val="E7ED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950" b="0" i="0">
                <a:solidFill>
                  <a:srgbClr val="141414"/>
                </a:solidFill>
                <a:latin typeface="Arial"/>
              </a:rPr>
              <a:t>Ask your company's myKONE admin to update your role, or I can send the request to your KONE contact.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5715000"/>
            <a:ext cx="4297680" cy="384048"/>
          </a:xfrm>
          <a:prstGeom prst="roundRect">
            <a:avLst>
              <a:gd name="adj" fmla="val 50000"/>
            </a:avLst>
          </a:prstGeom>
          <a:solidFill>
            <a:srgbClr val="F5F8FF"/>
          </a:solidFill>
          <a:ln w="12700">
            <a:solidFill>
              <a:srgbClr val="C9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5733288"/>
            <a:ext cx="3657600" cy="34747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900" b="0" i="0">
                <a:solidFill>
                  <a:srgbClr val="5B6478"/>
                </a:solidFill>
                <a:latin typeface="Arial"/>
              </a:rPr>
              <a:t>Ask about your equipment, projects, tenders…</a:t>
            </a:r>
          </a:p>
        </p:txBody>
      </p:sp>
      <p:sp>
        <p:nvSpPr>
          <p:cNvPr id="20" name="Oval 19"/>
          <p:cNvSpPr/>
          <p:nvPr/>
        </p:nvSpPr>
        <p:spPr>
          <a:xfrm>
            <a:off x="4617720" y="5751576"/>
            <a:ext cx="310896" cy="310896"/>
          </a:xfrm>
          <a:prstGeom prst="ellipse">
            <a:avLst/>
          </a:prstGeom>
          <a:solidFill>
            <a:srgbClr val="145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➤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0" y="1371600"/>
            <a:ext cx="6172200" cy="1078992"/>
          </a:xfrm>
          <a:prstGeom prst="roundRect">
            <a:avLst>
              <a:gd name="adj" fmla="val 8000"/>
            </a:avLst>
          </a:prstGeom>
          <a:solidFill>
            <a:srgbClr val="F5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0" y="1536192"/>
            <a:ext cx="73152" cy="749808"/>
          </a:xfrm>
          <a:prstGeom prst="rect">
            <a:avLst/>
          </a:prstGeom>
          <a:solidFill>
            <a:srgbClr val="03A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87568" y="1481328"/>
            <a:ext cx="5852160" cy="4114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3234A"/>
                </a:solidFill>
                <a:latin typeface="Arial"/>
              </a:rPr>
              <a:t>Context-aware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87568" y="1901952"/>
            <a:ext cx="5852160" cy="484631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50" b="0" i="0">
                <a:solidFill>
                  <a:srgbClr val="5B6478"/>
                </a:solidFill>
                <a:latin typeface="Arial"/>
              </a:rPr>
              <a:t>Combines the screenshot, the page the user is on and the trusted knowledge base.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0" y="2587752"/>
            <a:ext cx="6172200" cy="1078992"/>
          </a:xfrm>
          <a:prstGeom prst="roundRect">
            <a:avLst>
              <a:gd name="adj" fmla="val 8000"/>
            </a:avLst>
          </a:prstGeom>
          <a:solidFill>
            <a:srgbClr val="F5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486400" y="2752344"/>
            <a:ext cx="73152" cy="749808"/>
          </a:xfrm>
          <a:prstGeom prst="rect">
            <a:avLst/>
          </a:prstGeom>
          <a:solidFill>
            <a:srgbClr val="03A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87568" y="2697480"/>
            <a:ext cx="5852160" cy="4114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3234A"/>
                </a:solidFill>
                <a:latin typeface="Arial"/>
              </a:rPr>
              <a:t>Controlled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87568" y="3118104"/>
            <a:ext cx="5852160" cy="484631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50" b="0" i="0">
                <a:solidFill>
                  <a:srgbClr val="5B6478"/>
                </a:solidFill>
                <a:latin typeface="Arial"/>
              </a:rPr>
              <a:t>Answers stay inside the approved myKONE knowledge. The image is used only for that answer.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0" y="3803904"/>
            <a:ext cx="6172200" cy="1078992"/>
          </a:xfrm>
          <a:prstGeom prst="roundRect">
            <a:avLst>
              <a:gd name="adj" fmla="val 8000"/>
            </a:avLst>
          </a:prstGeom>
          <a:solidFill>
            <a:srgbClr val="F5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486400" y="3968496"/>
            <a:ext cx="73152" cy="749808"/>
          </a:xfrm>
          <a:prstGeom prst="rect">
            <a:avLst/>
          </a:prstGeom>
          <a:solidFill>
            <a:srgbClr val="03A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687568" y="3913632"/>
            <a:ext cx="5852160" cy="4114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3234A"/>
                </a:solidFill>
                <a:latin typeface="Arial"/>
              </a:rPr>
              <a:t>Private by default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87568" y="4334256"/>
            <a:ext cx="5852160" cy="484631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50" b="0" i="0">
                <a:solidFill>
                  <a:srgbClr val="5B6478"/>
                </a:solidFill>
                <a:latin typeface="Arial"/>
              </a:rPr>
              <a:t>Screenshots are stored securely, with a retention period agreed with KONE.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86400" y="5020056"/>
            <a:ext cx="6172200" cy="1078992"/>
          </a:xfrm>
          <a:prstGeom prst="roundRect">
            <a:avLst>
              <a:gd name="adj" fmla="val 8000"/>
            </a:avLst>
          </a:prstGeom>
          <a:solidFill>
            <a:srgbClr val="F5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486400" y="5184648"/>
            <a:ext cx="73152" cy="749808"/>
          </a:xfrm>
          <a:prstGeom prst="rect">
            <a:avLst/>
          </a:prstGeom>
          <a:solidFill>
            <a:srgbClr val="FF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687568" y="5129784"/>
            <a:ext cx="5852160" cy="4114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3234A"/>
                </a:solidFill>
                <a:latin typeface="Arial"/>
              </a:rPr>
              <a:t>Status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87568" y="5550408"/>
            <a:ext cx="5852160" cy="484631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50" b="0" i="0">
                <a:solidFill>
                  <a:srgbClr val="5B6478"/>
                </a:solidFill>
                <a:latin typeface="Arial"/>
              </a:rPr>
              <a:t>Planned for phase 4. Needs a vision-capable AI model, for example on Amazon Bedrock as proposed by Smart Assist.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5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875520" cy="6400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600" b="1" i="0">
                <a:solidFill>
                  <a:srgbClr val="13234A"/>
                </a:solidFill>
                <a:latin typeface="Arial"/>
              </a:rP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241280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500" b="0" i="0">
                <a:solidFill>
                  <a:srgbClr val="5B6478"/>
                </a:solidFill>
                <a:latin typeface="Arial"/>
              </a:rPr>
              <a:t>KONE stays in control of its data. JarCube handles conversation and knowledge</a:t>
            </a:r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1400" y="274320"/>
            <a:ext cx="640080" cy="640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00800"/>
            <a:ext cx="6400800" cy="3200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5B6478"/>
                </a:solidFill>
                <a:latin typeface="Arial"/>
              </a:rPr>
              <a:t>JarCube AI Assistant  ×  myKONE  |  v3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/>
            <a:r>
              <a:rPr sz="1000" b="0" i="0">
                <a:solidFill>
                  <a:srgbClr val="5B6478"/>
                </a:solidFill>
                <a:latin typeface="Arial"/>
              </a:rPr>
              <a:t>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651760"/>
            <a:ext cx="2011680" cy="1188720"/>
          </a:xfrm>
          <a:prstGeom prst="roundRect">
            <a:avLst>
              <a:gd name="adj" fmla="val 15000"/>
            </a:avLst>
          </a:prstGeom>
          <a:solidFill>
            <a:srgbClr val="132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👤 myKONE user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signed in to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the portal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578608" y="3246120"/>
            <a:ext cx="621792" cy="0"/>
          </a:xfrm>
          <a:prstGeom prst="line">
            <a:avLst/>
          </a:prstGeom>
          <a:ln w="31750">
            <a:solidFill>
              <a:srgbClr val="1450F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246120" y="2423160"/>
            <a:ext cx="2377440" cy="1645920"/>
          </a:xfrm>
          <a:prstGeom prst="roundRect">
            <a:avLst>
              <a:gd name="adj" fmla="val 15000"/>
            </a:avLst>
          </a:prstGeom>
          <a:solidFill>
            <a:srgbClr val="145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🤖 JarCube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Assistant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/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understands the question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and chooses a source</a:t>
            </a:r>
          </a:p>
        </p:txBody>
      </p:sp>
      <p:cxnSp>
        <p:nvCxnSpPr>
          <p:cNvPr id="11" name="Connector 10"/>
          <p:cNvCxnSpPr/>
          <p:nvPr/>
        </p:nvCxnSpPr>
        <p:spPr>
          <a:xfrm flipV="1">
            <a:off x="5641848" y="2057400"/>
            <a:ext cx="758952" cy="822960"/>
          </a:xfrm>
          <a:prstGeom prst="line">
            <a:avLst/>
          </a:prstGeom>
          <a:ln w="25400">
            <a:solidFill>
              <a:srgbClr val="1450F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641848" y="3246120"/>
            <a:ext cx="758952" cy="365760"/>
          </a:xfrm>
          <a:prstGeom prst="line">
            <a:avLst/>
          </a:prstGeom>
          <a:ln w="25400">
            <a:solidFill>
              <a:srgbClr val="1450F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641848" y="3611880"/>
            <a:ext cx="758952" cy="1508760"/>
          </a:xfrm>
          <a:prstGeom prst="line">
            <a:avLst/>
          </a:prstGeom>
          <a:ln w="25400">
            <a:solidFill>
              <a:srgbClr val="FFAB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446520" y="1463040"/>
            <a:ext cx="2377440" cy="1188720"/>
          </a:xfrm>
          <a:prstGeom prst="roundRect">
            <a:avLst>
              <a:gd name="adj" fmla="val 15000"/>
            </a:avLst>
          </a:prstGeom>
          <a:solidFill>
            <a:srgbClr val="E7ED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 i="0">
                <a:solidFill>
                  <a:srgbClr val="13234A"/>
                </a:solidFill>
                <a:latin typeface="Arial"/>
              </a:rPr>
              <a:t>📚 Knowledge base</a:t>
            </a:r>
          </a:p>
          <a:p>
            <a:pPr algn="ctr"/>
            <a:r>
              <a:rPr sz="1200" b="1" i="0">
                <a:solidFill>
                  <a:srgbClr val="13234A"/>
                </a:solidFill>
                <a:latin typeface="Arial"/>
              </a:rPr>
              <a:t>guides, FAQs,</a:t>
            </a:r>
          </a:p>
          <a:p>
            <a:pPr algn="ctr"/>
            <a:r>
              <a:rPr sz="1200" b="1" i="0">
                <a:solidFill>
                  <a:srgbClr val="13234A"/>
                </a:solidFill>
                <a:latin typeface="Arial"/>
              </a:rPr>
              <a:t>status glossary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46520" y="3017520"/>
            <a:ext cx="2377440" cy="1188720"/>
          </a:xfrm>
          <a:prstGeom prst="roundRect">
            <a:avLst>
              <a:gd name="adj" fmla="val 15000"/>
            </a:avLst>
          </a:prstGeom>
          <a:solidFill>
            <a:srgbClr val="E6F6EC"/>
          </a:solidFill>
          <a:ln w="12700">
            <a:solidFill>
              <a:srgbClr val="2EAD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 i="0">
                <a:solidFill>
                  <a:srgbClr val="13234A"/>
                </a:solidFill>
                <a:latin typeface="Arial"/>
              </a:rPr>
              <a:t>🔐 myKONE Assistant</a:t>
            </a:r>
          </a:p>
          <a:p>
            <a:pPr algn="ctr"/>
            <a:r>
              <a:rPr sz="1200" b="1" i="0">
                <a:solidFill>
                  <a:srgbClr val="13234A"/>
                </a:solidFill>
                <a:latin typeface="Arial"/>
              </a:rPr>
              <a:t>connector</a:t>
            </a:r>
          </a:p>
          <a:p>
            <a:pPr algn="ctr"/>
            <a:r>
              <a:rPr sz="1200" b="1" i="0">
                <a:solidFill>
                  <a:srgbClr val="13234A"/>
                </a:solidFill>
                <a:latin typeface="Arial"/>
              </a:rPr>
              <a:t>(runs at KONE)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46520" y="4572000"/>
            <a:ext cx="2377440" cy="1097280"/>
          </a:xfrm>
          <a:prstGeom prst="roundRect">
            <a:avLst>
              <a:gd name="adj" fmla="val 15000"/>
            </a:avLst>
          </a:prstGeom>
          <a:solidFill>
            <a:srgbClr val="FFF6E0"/>
          </a:solidFill>
          <a:ln w="12700">
            <a:solidFill>
              <a:srgbClr val="FF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 i="0">
                <a:solidFill>
                  <a:srgbClr val="13234A"/>
                </a:solidFill>
                <a:latin typeface="Arial"/>
              </a:rPr>
              <a:t>🙋 KONE specialists</a:t>
            </a:r>
          </a:p>
          <a:p>
            <a:pPr algn="ctr"/>
            <a:r>
              <a:rPr sz="1200" b="1" i="0">
                <a:solidFill>
                  <a:srgbClr val="13234A"/>
                </a:solidFill>
                <a:latin typeface="Arial"/>
              </a:rPr>
              <a:t>inbox &amp; tickets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842248" y="3611880"/>
            <a:ext cx="530352" cy="0"/>
          </a:xfrm>
          <a:prstGeom prst="line">
            <a:avLst/>
          </a:prstGeom>
          <a:ln w="25400">
            <a:solidFill>
              <a:srgbClr val="2EAD5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9418320" y="1463040"/>
            <a:ext cx="2240280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9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09760" y="1554480"/>
            <a:ext cx="2103120" cy="3200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200" b="1" i="0">
                <a:solidFill>
                  <a:srgbClr val="13234A"/>
                </a:solidFill>
                <a:latin typeface="Arial"/>
              </a:rPr>
              <a:t>myKONE services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555480" y="1965960"/>
            <a:ext cx="1965960" cy="566928"/>
          </a:xfrm>
          <a:prstGeom prst="roundRect">
            <a:avLst>
              <a:gd name="adj" fmla="val 15000"/>
            </a:avLst>
          </a:prstGeom>
          <a:solidFill>
            <a:srgbClr val="F5F8FF"/>
          </a:solidFill>
          <a:ln w="12700">
            <a:solidFill>
              <a:srgbClr val="C9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 i="0">
                <a:solidFill>
                  <a:srgbClr val="13234A"/>
                </a:solidFill>
                <a:latin typeface="Arial"/>
              </a:rPr>
              <a:t>Delivery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555480" y="2679191"/>
            <a:ext cx="1965960" cy="566928"/>
          </a:xfrm>
          <a:prstGeom prst="roundRect">
            <a:avLst>
              <a:gd name="adj" fmla="val 15000"/>
            </a:avLst>
          </a:prstGeom>
          <a:solidFill>
            <a:srgbClr val="F5F8FF"/>
          </a:solidFill>
          <a:ln w="12700">
            <a:solidFill>
              <a:srgbClr val="C9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 i="0">
                <a:solidFill>
                  <a:srgbClr val="13234A"/>
                </a:solidFill>
                <a:latin typeface="Arial"/>
              </a:rPr>
              <a:t>Equipment &amp; work orders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555480" y="3392424"/>
            <a:ext cx="1965960" cy="566928"/>
          </a:xfrm>
          <a:prstGeom prst="roundRect">
            <a:avLst>
              <a:gd name="adj" fmla="val 15000"/>
            </a:avLst>
          </a:prstGeom>
          <a:solidFill>
            <a:srgbClr val="F5F8FF"/>
          </a:solidFill>
          <a:ln w="12700">
            <a:solidFill>
              <a:srgbClr val="C9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 i="0">
                <a:solidFill>
                  <a:srgbClr val="13234A"/>
                </a:solidFill>
                <a:latin typeface="Arial"/>
              </a:rPr>
              <a:t>Tenders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555480" y="4105656"/>
            <a:ext cx="1965960" cy="566928"/>
          </a:xfrm>
          <a:prstGeom prst="roundRect">
            <a:avLst>
              <a:gd name="adj" fmla="val 15000"/>
            </a:avLst>
          </a:prstGeom>
          <a:solidFill>
            <a:srgbClr val="F5F8FF"/>
          </a:solidFill>
          <a:ln w="12700">
            <a:solidFill>
              <a:srgbClr val="C9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 i="0">
                <a:solidFill>
                  <a:srgbClr val="13234A"/>
                </a:solidFill>
                <a:latin typeface="Arial"/>
              </a:rPr>
              <a:t>Reports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555480" y="4818888"/>
            <a:ext cx="1965960" cy="566928"/>
          </a:xfrm>
          <a:prstGeom prst="roundRect">
            <a:avLst>
              <a:gd name="adj" fmla="val 15000"/>
            </a:avLst>
          </a:prstGeom>
          <a:solidFill>
            <a:srgbClr val="F5F8FF"/>
          </a:solidFill>
          <a:ln w="12700">
            <a:solidFill>
              <a:srgbClr val="C9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 i="0">
                <a:solidFill>
                  <a:srgbClr val="13234A"/>
                </a:solidFill>
                <a:latin typeface="Arial"/>
              </a:rPr>
              <a:t>Invoices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343400"/>
            <a:ext cx="5669280" cy="17373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141414"/>
                </a:solidFill>
                <a:latin typeface="Arial"/>
              </a:rPr>
              <a:t>What the connector guarantees:</a:t>
            </a:r>
          </a:p>
          <a:p>
            <a:pPr algn="l"/>
            <a:r>
              <a:rPr sz="1200" b="0" i="0">
                <a:solidFill>
                  <a:srgbClr val="141414"/>
                </a:solidFill>
                <a:latin typeface="Arial"/>
              </a:rPr>
              <a:t>•  Uses the user's own myKONE sign-in, so they see exactly what they see in the portal</a:t>
            </a:r>
          </a:p>
          <a:p>
            <a:pPr algn="l"/>
            <a:r>
              <a:rPr sz="1200" b="0" i="0">
                <a:solidFill>
                  <a:srgbClr val="141414"/>
                </a:solidFill>
                <a:latin typeface="Arial"/>
              </a:rPr>
              <a:t>•  Applies myKONE roles, permissions and site/contract restrictions</a:t>
            </a:r>
          </a:p>
          <a:p>
            <a:pPr algn="l"/>
            <a:r>
              <a:rPr sz="1200" b="0" i="0">
                <a:solidFill>
                  <a:srgbClr val="141414"/>
                </a:solidFill>
                <a:latin typeface="Arial"/>
              </a:rPr>
              <a:t>•  Customer data stays at KONE. Only the answer goes back to the chat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5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875520" cy="6400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600" b="1" i="0">
                <a:solidFill>
                  <a:srgbClr val="13234A"/>
                </a:solidFill>
                <a:latin typeface="Arial"/>
              </a:rPr>
              <a:t>Safe by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241280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500" b="0" i="0">
                <a:solidFill>
                  <a:srgbClr val="5B6478"/>
                </a:solidFill>
                <a:latin typeface="Arial"/>
              </a:rPr>
              <a:t>Helpful, but only within what each user is allowed to see</a:t>
            </a:r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1400" y="274320"/>
            <a:ext cx="640080" cy="640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00800"/>
            <a:ext cx="6400800" cy="3200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5B6478"/>
                </a:solidFill>
                <a:latin typeface="Arial"/>
              </a:rPr>
              <a:t>JarCube AI Assistant  ×  myKONE  |  v3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/>
            <a:r>
              <a:rPr sz="1000" b="0" i="0">
                <a:solidFill>
                  <a:srgbClr val="5B6478"/>
                </a:solidFill>
                <a:latin typeface="Arial"/>
              </a:rPr>
              <a:t>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508760"/>
            <a:ext cx="3520440" cy="2148840"/>
          </a:xfrm>
          <a:prstGeom prst="roundRect">
            <a:avLst>
              <a:gd name="adj" fmla="val 8000"/>
            </a:avLst>
          </a:prstGeom>
          <a:solidFill>
            <a:srgbClr val="F5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77240" y="1737360"/>
            <a:ext cx="685800" cy="6858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450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2000" b="1" i="0">
                <a:solidFill>
                  <a:srgbClr val="FFFFFF"/>
                </a:solidFill>
                <a:latin typeface="Arial"/>
              </a:rPr>
              <a:t>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1783080"/>
            <a:ext cx="2377440" cy="6400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500" b="1" i="0">
                <a:solidFill>
                  <a:srgbClr val="13234A"/>
                </a:solidFill>
                <a:latin typeface="Arial"/>
              </a:rPr>
              <a:t>Same rights as the portal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560320"/>
            <a:ext cx="3108960" cy="10515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5B6478"/>
                </a:solidFill>
                <a:latin typeface="Arial"/>
              </a:rPr>
              <a:t>The assistant uses the user's myKONE sign-in and permissions. No extra access is created.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79" y="1508760"/>
            <a:ext cx="3520440" cy="2148840"/>
          </a:xfrm>
          <a:prstGeom prst="roundRect">
            <a:avLst>
              <a:gd name="adj" fmla="val 8000"/>
            </a:avLst>
          </a:prstGeom>
          <a:solidFill>
            <a:srgbClr val="F5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526279" y="1737360"/>
            <a:ext cx="685800" cy="6858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450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2000" b="1" i="0">
                <a:solidFill>
                  <a:srgbClr val="FFFFFF"/>
                </a:solidFill>
                <a:latin typeface="Arial"/>
              </a:rPr>
              <a:t>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49240" y="1783080"/>
            <a:ext cx="2377440" cy="6400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500" b="1" i="0">
                <a:solidFill>
                  <a:srgbClr val="13234A"/>
                </a:solidFill>
                <a:latin typeface="Arial"/>
              </a:rPr>
              <a:t>Separate data per customer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79" y="2560320"/>
            <a:ext cx="3108960" cy="10515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5B6478"/>
                </a:solidFill>
                <a:latin typeface="Arial"/>
              </a:rPr>
              <a:t>Each customer's conversations and data are kept apart. Nothing crosses over.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19" y="1508760"/>
            <a:ext cx="3520440" cy="2148840"/>
          </a:xfrm>
          <a:prstGeom prst="roundRect">
            <a:avLst>
              <a:gd name="adj" fmla="val 8000"/>
            </a:avLst>
          </a:prstGeom>
          <a:solidFill>
            <a:srgbClr val="F5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275319" y="1737360"/>
            <a:ext cx="685800" cy="6858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450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2000" b="1" i="0">
                <a:solidFill>
                  <a:srgbClr val="FFFFFF"/>
                </a:solidFill>
                <a:latin typeface="Arial"/>
              </a:rPr>
              <a:t>🎯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98280" y="1783080"/>
            <a:ext cx="2377440" cy="6400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500" b="1" i="0">
                <a:solidFill>
                  <a:srgbClr val="13234A"/>
                </a:solidFill>
                <a:latin typeface="Arial"/>
              </a:rPr>
              <a:t>Grounded, not guessed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19" y="2560320"/>
            <a:ext cx="3108960" cy="10515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5B6478"/>
                </a:solidFill>
                <a:latin typeface="Arial"/>
              </a:rPr>
              <a:t>Dates and statuses come from myKONE; policy answers come from approved content only.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886200"/>
            <a:ext cx="3520440" cy="2148840"/>
          </a:xfrm>
          <a:prstGeom prst="roundRect">
            <a:avLst>
              <a:gd name="adj" fmla="val 8000"/>
            </a:avLst>
          </a:prstGeom>
          <a:solidFill>
            <a:srgbClr val="F5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77240" y="4114800"/>
            <a:ext cx="685800" cy="6858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450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2000" b="1" i="0">
                <a:solidFill>
                  <a:srgbClr val="FFFFFF"/>
                </a:solidFill>
                <a:latin typeface="Arial"/>
              </a:rPr>
              <a:t>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0200" y="4160520"/>
            <a:ext cx="2377440" cy="6400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500" b="1" i="0">
                <a:solidFill>
                  <a:srgbClr val="13234A"/>
                </a:solidFill>
                <a:latin typeface="Arial"/>
              </a:rPr>
              <a:t>Hands over when unsure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4937760"/>
            <a:ext cx="3108960" cy="10515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5B6478"/>
                </a:solidFill>
                <a:latin typeface="Arial"/>
              </a:rPr>
              <a:t>Low confidence, sensitive topics and emergencies go to people, not to the AI.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97679" y="3886200"/>
            <a:ext cx="3520440" cy="2148840"/>
          </a:xfrm>
          <a:prstGeom prst="roundRect">
            <a:avLst>
              <a:gd name="adj" fmla="val 8000"/>
            </a:avLst>
          </a:prstGeom>
          <a:solidFill>
            <a:srgbClr val="F5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526279" y="4114800"/>
            <a:ext cx="685800" cy="6858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450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2000" b="1" i="0">
                <a:solidFill>
                  <a:srgbClr val="FFFFFF"/>
                </a:solidFill>
                <a:latin typeface="Arial"/>
              </a:rPr>
              <a:t>🚫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49240" y="4160520"/>
            <a:ext cx="2377440" cy="6400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500" b="1" i="0">
                <a:solidFill>
                  <a:srgbClr val="13234A"/>
                </a:solidFill>
                <a:latin typeface="Arial"/>
              </a:rPr>
              <a:t>Holds back sensitive data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26279" y="4937760"/>
            <a:ext cx="3108960" cy="10515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5B6478"/>
                </a:solidFill>
                <a:latin typeface="Arial"/>
              </a:rPr>
              <a:t>No internal notes, cost prices or other customers' data in answers.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46719" y="3886200"/>
            <a:ext cx="3520440" cy="2148840"/>
          </a:xfrm>
          <a:prstGeom prst="roundRect">
            <a:avLst>
              <a:gd name="adj" fmla="val 8000"/>
            </a:avLst>
          </a:prstGeom>
          <a:solidFill>
            <a:srgbClr val="F5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275319" y="4114800"/>
            <a:ext cx="685800" cy="6858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450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2000" b="1" i="0">
                <a:solidFill>
                  <a:srgbClr val="FFFFFF"/>
                </a:solidFill>
                <a:latin typeface="Arial"/>
              </a:rPr>
              <a:t>📋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98280" y="4160520"/>
            <a:ext cx="2377440" cy="6400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500" b="1" i="0">
                <a:solidFill>
                  <a:srgbClr val="13234A"/>
                </a:solidFill>
                <a:latin typeface="Arial"/>
              </a:rPr>
              <a:t>Auditable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75319" y="4937760"/>
            <a:ext cx="3108960" cy="10515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5B6478"/>
                </a:solidFill>
                <a:latin typeface="Arial"/>
              </a:rPr>
              <a:t>Every answer can be traced to its source; KONE staff impersonation is flagged.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5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875520" cy="6400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600" b="1" i="0">
                <a:solidFill>
                  <a:srgbClr val="13234A"/>
                </a:solidFill>
                <a:latin typeface="Arial"/>
              </a:rPr>
              <a:t>How we train it and prove it is right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241280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500" b="0" i="0">
                <a:solidFill>
                  <a:srgbClr val="5B6478"/>
                </a:solidFill>
                <a:latin typeface="Arial"/>
              </a:rPr>
              <a:t>Training means curated content plus measured quality, not uploading everything</a:t>
            </a:r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1400" y="274320"/>
            <a:ext cx="640080" cy="640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00800"/>
            <a:ext cx="6400800" cy="3200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5B6478"/>
                </a:solidFill>
                <a:latin typeface="Arial"/>
              </a:rPr>
              <a:t>JarCube AI Assistant  ×  myKONE  |  v3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/>
            <a:r>
              <a:rPr sz="1000" b="0" i="0">
                <a:solidFill>
                  <a:srgbClr val="5B6478"/>
                </a:solidFill>
                <a:latin typeface="Arial"/>
              </a:rPr>
              <a:t>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600200"/>
            <a:ext cx="2606040" cy="3291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9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63040" y="1828800"/>
            <a:ext cx="777240" cy="777240"/>
          </a:xfrm>
          <a:prstGeom prst="ellipse">
            <a:avLst/>
          </a:prstGeom>
          <a:solidFill>
            <a:srgbClr val="145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24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743200"/>
            <a:ext cx="2606040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800" b="1" i="0">
                <a:solidFill>
                  <a:srgbClr val="13234A"/>
                </a:solidFill>
                <a:latin typeface="Arial"/>
              </a:rPr>
              <a:t>Knowledge pack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200400"/>
            <a:ext cx="2240280" cy="16459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200" b="0" i="0">
                <a:solidFill>
                  <a:srgbClr val="5B6478"/>
                </a:solidFill>
                <a:latin typeface="Arial"/>
              </a:rPr>
              <a:t>myKONE guides, FAQs, Service Transparency pages and process docs, rewritten into short, plain-language articles.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172968" y="3246120"/>
            <a:ext cx="192024" cy="0"/>
          </a:xfrm>
          <a:prstGeom prst="line">
            <a:avLst/>
          </a:prstGeom>
          <a:ln w="31750">
            <a:solidFill>
              <a:srgbClr val="1450F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383280" y="1600200"/>
            <a:ext cx="2606040" cy="3291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9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297680" y="1828800"/>
            <a:ext cx="777240" cy="777240"/>
          </a:xfrm>
          <a:prstGeom prst="ellipse">
            <a:avLst/>
          </a:prstGeom>
          <a:solidFill>
            <a:srgbClr val="224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24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2743200"/>
            <a:ext cx="2606040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800" b="1" i="0">
                <a:solidFill>
                  <a:srgbClr val="13234A"/>
                </a:solidFill>
                <a:latin typeface="Arial"/>
              </a:rPr>
              <a:t>Status glossary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3200400"/>
            <a:ext cx="2240280" cy="16459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200" b="0" i="0">
                <a:solidFill>
                  <a:srgbClr val="5B6478"/>
                </a:solidFill>
                <a:latin typeface="Arial"/>
              </a:rPr>
              <a:t>Every status, milestone and customer task: what it means, what's next, what to do. This powers the NEXT and ACTION answers.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007608" y="3246120"/>
            <a:ext cx="192024" cy="0"/>
          </a:xfrm>
          <a:prstGeom prst="line">
            <a:avLst/>
          </a:prstGeom>
          <a:ln w="31750">
            <a:solidFill>
              <a:srgbClr val="1450F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217920" y="1600200"/>
            <a:ext cx="2606040" cy="3291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9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132320" y="1828800"/>
            <a:ext cx="777240" cy="777240"/>
          </a:xfrm>
          <a:prstGeom prst="ellipse">
            <a:avLst/>
          </a:prstGeom>
          <a:solidFill>
            <a:srgbClr val="03A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24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2743200"/>
            <a:ext cx="2606040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800" b="1" i="0">
                <a:solidFill>
                  <a:srgbClr val="13234A"/>
                </a:solidFill>
                <a:latin typeface="Arial"/>
              </a:rPr>
              <a:t>Test set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3200400"/>
            <a:ext cx="2240280" cy="16459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200" b="0" i="0">
                <a:solidFill>
                  <a:srgbClr val="5B6478"/>
                </a:solidFill>
                <a:latin typeface="Arial"/>
              </a:rPr>
              <a:t>100+ real customer questions with approved answers. We measure accuracy before every release.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842248" y="3246120"/>
            <a:ext cx="192024" cy="0"/>
          </a:xfrm>
          <a:prstGeom prst="line">
            <a:avLst/>
          </a:prstGeom>
          <a:ln w="31750">
            <a:solidFill>
              <a:srgbClr val="1450F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9052560" y="1600200"/>
            <a:ext cx="2606040" cy="3291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9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966960" y="1828800"/>
            <a:ext cx="777240" cy="777240"/>
          </a:xfrm>
          <a:prstGeom prst="ellipse">
            <a:avLst/>
          </a:prstGeom>
          <a:solidFill>
            <a:srgbClr val="2EA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24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52560" y="2743200"/>
            <a:ext cx="2606040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800" b="1" i="0">
                <a:solidFill>
                  <a:srgbClr val="13234A"/>
                </a:solidFill>
                <a:latin typeface="Arial"/>
              </a:rPr>
              <a:t>Learn loop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35440" y="3200400"/>
            <a:ext cx="2240280" cy="16459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200" b="0" i="0">
                <a:solidFill>
                  <a:srgbClr val="5B6478"/>
                </a:solidFill>
                <a:latin typeface="Arial"/>
              </a:rPr>
              <a:t>Unanswered questions are reviewed weekly, the knowledge is extended and the test set grows.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5166360"/>
            <a:ext cx="11109960" cy="1051560"/>
          </a:xfrm>
          <a:prstGeom prst="roundRect">
            <a:avLst>
              <a:gd name="adj" fmla="val 10000"/>
            </a:avLst>
          </a:prstGeom>
          <a:solidFill>
            <a:srgbClr val="132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5212080"/>
            <a:ext cx="2560320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Accuracy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5669280"/>
            <a:ext cx="2560320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100" b="0" i="0">
                <a:solidFill>
                  <a:srgbClr val="DAE4FF"/>
                </a:solidFill>
                <a:latin typeface="Arial"/>
              </a:rPr>
              <a:t>answers match approved content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74720" y="5212080"/>
            <a:ext cx="2560320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Groundedness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74720" y="5669280"/>
            <a:ext cx="2560320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100" b="0" i="0">
                <a:solidFill>
                  <a:srgbClr val="DAE4FF"/>
                </a:solidFill>
                <a:latin typeface="Arial"/>
              </a:rPr>
              <a:t>no invented facts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0" y="5212080"/>
            <a:ext cx="2560320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Right hand-over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7920" y="5669280"/>
            <a:ext cx="2560320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100" b="0" i="0">
                <a:solidFill>
                  <a:srgbClr val="DAE4FF"/>
                </a:solidFill>
                <a:latin typeface="Arial"/>
              </a:rPr>
              <a:t>declines what it doesn't know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61120" y="5212080"/>
            <a:ext cx="2560320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Languages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61120" y="5669280"/>
            <a:ext cx="2560320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100" b="0" i="0">
                <a:solidFill>
                  <a:srgbClr val="DAE4FF"/>
                </a:solidFill>
                <a:latin typeface="Arial"/>
              </a:rPr>
              <a:t>start EN, add by country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5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875520" cy="6400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600" b="1" i="0">
                <a:solidFill>
                  <a:srgbClr val="13234A"/>
                </a:solidFill>
                <a:latin typeface="Arial"/>
              </a:rPr>
              <a:t>The support team's 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241280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500" b="0" i="0">
                <a:solidFill>
                  <a:srgbClr val="5B6478"/>
                </a:solidFill>
                <a:latin typeface="Arial"/>
              </a:rPr>
              <a:t>One dashboard to watch, join and improve every conversation</a:t>
            </a:r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1400" y="274320"/>
            <a:ext cx="640080" cy="640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00800"/>
            <a:ext cx="6400800" cy="3200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5B6478"/>
                </a:solidFill>
                <a:latin typeface="Arial"/>
              </a:rPr>
              <a:t>JarCube AI Assistant  ×  myKONE  |  v3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/>
            <a:r>
              <a:rPr sz="1000" b="0" i="0">
                <a:solidFill>
                  <a:srgbClr val="5B6478"/>
                </a:solidFill>
                <a:latin typeface="Arial"/>
              </a:rPr>
              <a:t>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554480"/>
            <a:ext cx="3520440" cy="1737360"/>
          </a:xfrm>
          <a:prstGeom prst="roundRect">
            <a:avLst>
              <a:gd name="adj" fmla="val 8000"/>
            </a:avLst>
          </a:prstGeom>
          <a:solidFill>
            <a:srgbClr val="F5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719072"/>
            <a:ext cx="73152" cy="1408176"/>
          </a:xfrm>
          <a:prstGeom prst="rect">
            <a:avLst/>
          </a:prstGeom>
          <a:solidFill>
            <a:srgbClr val="145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664207"/>
            <a:ext cx="3200400" cy="4114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600" b="1" i="0">
                <a:solidFill>
                  <a:srgbClr val="13234A"/>
                </a:solidFill>
                <a:latin typeface="Arial"/>
              </a:rPr>
              <a:t>Live inbox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2084831"/>
            <a:ext cx="3200400" cy="11430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5B6478"/>
                </a:solidFill>
                <a:latin typeface="Arial"/>
              </a:rPr>
              <a:t>Every chat in real time, across channels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79" y="1554480"/>
            <a:ext cx="3520440" cy="1737360"/>
          </a:xfrm>
          <a:prstGeom prst="roundRect">
            <a:avLst>
              <a:gd name="adj" fmla="val 8000"/>
            </a:avLst>
          </a:prstGeom>
          <a:solidFill>
            <a:srgbClr val="F5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79" y="1719072"/>
            <a:ext cx="73152" cy="1408176"/>
          </a:xfrm>
          <a:prstGeom prst="rect">
            <a:avLst/>
          </a:prstGeom>
          <a:solidFill>
            <a:srgbClr val="145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98847" y="1664207"/>
            <a:ext cx="3200400" cy="4114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600" b="1" i="0">
                <a:solidFill>
                  <a:srgbClr val="13234A"/>
                </a:solidFill>
                <a:latin typeface="Arial"/>
              </a:rPr>
              <a:t>One-click takeover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98847" y="2084831"/>
            <a:ext cx="3200400" cy="11430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5B6478"/>
                </a:solidFill>
                <a:latin typeface="Arial"/>
              </a:rPr>
              <a:t>A specialist joins and the bot steps back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19" y="1554480"/>
            <a:ext cx="3520440" cy="1737360"/>
          </a:xfrm>
          <a:prstGeom prst="roundRect">
            <a:avLst>
              <a:gd name="adj" fmla="val 8000"/>
            </a:avLst>
          </a:prstGeom>
          <a:solidFill>
            <a:srgbClr val="F5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19" y="1719072"/>
            <a:ext cx="73152" cy="1408176"/>
          </a:xfrm>
          <a:prstGeom prst="rect">
            <a:avLst/>
          </a:prstGeom>
          <a:solidFill>
            <a:srgbClr val="145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47888" y="1664207"/>
            <a:ext cx="3200400" cy="4114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600" b="1" i="0">
                <a:solidFill>
                  <a:srgbClr val="13234A"/>
                </a:solidFill>
                <a:latin typeface="Arial"/>
              </a:rPr>
              <a:t>Tickets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7888" y="2084831"/>
            <a:ext cx="3200400" cy="11430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5B6478"/>
                </a:solidFill>
                <a:latin typeface="Arial"/>
              </a:rPr>
              <a:t>Priority, owner and full chat history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520439"/>
            <a:ext cx="3520440" cy="1737360"/>
          </a:xfrm>
          <a:prstGeom prst="roundRect">
            <a:avLst>
              <a:gd name="adj" fmla="val 8000"/>
            </a:avLst>
          </a:prstGeom>
          <a:solidFill>
            <a:srgbClr val="F5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3685031"/>
            <a:ext cx="73152" cy="1408176"/>
          </a:xfrm>
          <a:prstGeom prst="rect">
            <a:avLst/>
          </a:prstGeom>
          <a:solidFill>
            <a:srgbClr val="145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9808" y="3630168"/>
            <a:ext cx="3200400" cy="4114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600" b="1" i="0">
                <a:solidFill>
                  <a:srgbClr val="13234A"/>
                </a:solidFill>
                <a:latin typeface="Arial"/>
              </a:rPr>
              <a:t>Question bank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" y="4050791"/>
            <a:ext cx="3200400" cy="11430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5B6478"/>
                </a:solidFill>
                <a:latin typeface="Arial"/>
              </a:rPr>
              <a:t>See unanswered questions and teach the bot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97679" y="3520439"/>
            <a:ext cx="3520440" cy="1737360"/>
          </a:xfrm>
          <a:prstGeom prst="roundRect">
            <a:avLst>
              <a:gd name="adj" fmla="val 8000"/>
            </a:avLst>
          </a:prstGeom>
          <a:solidFill>
            <a:srgbClr val="F5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97679" y="3685031"/>
            <a:ext cx="73152" cy="1408176"/>
          </a:xfrm>
          <a:prstGeom prst="rect">
            <a:avLst/>
          </a:prstGeom>
          <a:solidFill>
            <a:srgbClr val="145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98847" y="3630168"/>
            <a:ext cx="3200400" cy="4114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600" b="1" i="0">
                <a:solidFill>
                  <a:srgbClr val="13234A"/>
                </a:solidFill>
                <a:latin typeface="Arial"/>
              </a:rPr>
              <a:t>Reports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98847" y="4050791"/>
            <a:ext cx="3200400" cy="11430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5B6478"/>
                </a:solidFill>
                <a:latin typeface="Arial"/>
              </a:rPr>
              <a:t>Volumes, AI-solved share, response times, satisfaction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46720" y="3520440"/>
            <a:ext cx="3611880" cy="1737360"/>
          </a:xfrm>
          <a:prstGeom prst="roundRect">
            <a:avLst>
              <a:gd name="adj" fmla="val 8000"/>
            </a:avLst>
          </a:prstGeom>
          <a:solidFill>
            <a:srgbClr val="F5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046720" y="3685032"/>
            <a:ext cx="73152" cy="1408176"/>
          </a:xfrm>
          <a:prstGeom prst="rect">
            <a:avLst/>
          </a:prstGeom>
          <a:solidFill>
            <a:srgbClr val="2EA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47888" y="3630168"/>
            <a:ext cx="3291840" cy="4114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600" b="1" i="0">
                <a:solidFill>
                  <a:srgbClr val="13234A"/>
                </a:solidFill>
                <a:latin typeface="Arial"/>
              </a:rPr>
              <a:t>Channels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47888" y="4050791"/>
            <a:ext cx="3291840" cy="11430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5B6478"/>
                </a:solidFill>
                <a:latin typeface="Arial"/>
              </a:rPr>
              <a:t>myKONE widget first. The same assistant can later serve WhatsApp, Teams or other KONE platforms.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5532120"/>
            <a:ext cx="11109960" cy="548640"/>
          </a:xfrm>
          <a:prstGeom prst="roundRect">
            <a:avLst>
              <a:gd name="adj" fmla="val 15000"/>
            </a:avLst>
          </a:prstGeom>
          <a:solidFill>
            <a:srgbClr val="E7ED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0" i="0">
                <a:solidFill>
                  <a:srgbClr val="13234A"/>
                </a:solidFill>
                <a:latin typeface="Arial"/>
              </a:rPr>
              <a:t>KONE decides which questions the bot may answer and which always go to a person.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5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875520" cy="6400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600" b="1" i="0">
                <a:solidFill>
                  <a:srgbClr val="13234A"/>
                </a:solidFill>
                <a:latin typeface="Arial"/>
              </a:rPr>
              <a:t>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241280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500" b="0" i="0">
                <a:solidFill>
                  <a:srgbClr val="5B6478"/>
                </a:solidFill>
                <a:latin typeface="Arial"/>
              </a:rPr>
              <a:t>Measured from day one of the pilot</a:t>
            </a:r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1400" y="274320"/>
            <a:ext cx="640080" cy="640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00800"/>
            <a:ext cx="6400800" cy="3200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5B6478"/>
                </a:solidFill>
                <a:latin typeface="Arial"/>
              </a:rPr>
              <a:t>JarCube AI Assistant  ×  myKONE  |  v3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/>
            <a:r>
              <a:rPr sz="1000" b="0" i="0">
                <a:solidFill>
                  <a:srgbClr val="5B6478"/>
                </a:solidFill>
                <a:latin typeface="Arial"/>
              </a:rPr>
              <a:t>17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554480"/>
            <a:ext cx="2377440" cy="566928"/>
          </a:xfrm>
          <a:prstGeom prst="rect">
            <a:avLst/>
          </a:prstGeom>
          <a:solidFill>
            <a:srgbClr val="132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554480"/>
            <a:ext cx="2377440" cy="56692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/>
            </a:r>
          </a:p>
        </p:txBody>
      </p:sp>
      <p:sp>
        <p:nvSpPr>
          <p:cNvPr id="10" name="Rectangle 9"/>
          <p:cNvSpPr/>
          <p:nvPr/>
        </p:nvSpPr>
        <p:spPr>
          <a:xfrm>
            <a:off x="2926080" y="1554480"/>
            <a:ext cx="3200400" cy="566928"/>
          </a:xfrm>
          <a:prstGeom prst="rect">
            <a:avLst/>
          </a:prstGeom>
          <a:solidFill>
            <a:srgbClr val="132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26080" y="1554480"/>
            <a:ext cx="3200400" cy="56692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Today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1554480"/>
            <a:ext cx="3200400" cy="566928"/>
          </a:xfrm>
          <a:prstGeom prst="rect">
            <a:avLst/>
          </a:prstGeom>
          <a:solidFill>
            <a:srgbClr val="132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0" y="1554480"/>
            <a:ext cx="3200400" cy="56692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With the assistant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121408"/>
            <a:ext cx="2377440" cy="566928"/>
          </a:xfrm>
          <a:prstGeom prst="rect">
            <a:avLst/>
          </a:prstGeom>
          <a:solidFill>
            <a:srgbClr val="F5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2121408"/>
            <a:ext cx="2377440" cy="56692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1" i="0">
                <a:solidFill>
                  <a:srgbClr val="13234A"/>
                </a:solidFill>
                <a:latin typeface="Arial"/>
              </a:rPr>
              <a:t>Getting help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926080" y="2121408"/>
            <a:ext cx="3200400" cy="566928"/>
          </a:xfrm>
          <a:prstGeom prst="rect">
            <a:avLst/>
          </a:prstGeom>
          <a:solidFill>
            <a:srgbClr val="F5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26080" y="2121408"/>
            <a:ext cx="3200400" cy="56692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0" i="0">
                <a:solidFill>
                  <a:srgbClr val="141414"/>
                </a:solidFill>
                <a:latin typeface="Arial"/>
              </a:rPr>
              <a:t>Phone call or email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26480" y="2121408"/>
            <a:ext cx="3200400" cy="566928"/>
          </a:xfrm>
          <a:prstGeom prst="rect">
            <a:avLst/>
          </a:prstGeom>
          <a:solidFill>
            <a:srgbClr val="F5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26480" y="2121408"/>
            <a:ext cx="3200400" cy="56692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0" i="0">
                <a:solidFill>
                  <a:srgbClr val="141414"/>
                </a:solidFill>
                <a:latin typeface="Arial"/>
              </a:rPr>
              <a:t>Chat on any myKONE page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2688336"/>
            <a:ext cx="237744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2688336"/>
            <a:ext cx="2377440" cy="56692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1" i="0">
                <a:solidFill>
                  <a:srgbClr val="13234A"/>
                </a:solidFill>
                <a:latin typeface="Arial"/>
              </a:rPr>
              <a:t>Delivery status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926080" y="2688336"/>
            <a:ext cx="320040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926080" y="2688336"/>
            <a:ext cx="3200400" cy="56692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0" i="0">
                <a:solidFill>
                  <a:srgbClr val="141414"/>
                </a:solidFill>
                <a:latin typeface="Arial"/>
              </a:rPr>
              <a:t>Several screens and long texts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26480" y="2688336"/>
            <a:ext cx="320040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26480" y="2688336"/>
            <a:ext cx="3200400" cy="56692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0" i="0">
                <a:solidFill>
                  <a:srgbClr val="141414"/>
                </a:solidFill>
                <a:latin typeface="Arial"/>
              </a:rPr>
              <a:t>One answer with next step &amp; action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3255263"/>
            <a:ext cx="2377440" cy="566928"/>
          </a:xfrm>
          <a:prstGeom prst="rect">
            <a:avLst/>
          </a:prstGeom>
          <a:solidFill>
            <a:srgbClr val="F5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3255263"/>
            <a:ext cx="2377440" cy="56692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1" i="0">
                <a:solidFill>
                  <a:srgbClr val="13234A"/>
                </a:solidFill>
                <a:latin typeface="Arial"/>
              </a:rPr>
              <a:t>Customer tasks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926080" y="3255263"/>
            <a:ext cx="3200400" cy="566928"/>
          </a:xfrm>
          <a:prstGeom prst="rect">
            <a:avLst/>
          </a:prstGeom>
          <a:solidFill>
            <a:srgbClr val="F5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926080" y="3255263"/>
            <a:ext cx="3200400" cy="56692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0" i="0">
                <a:solidFill>
                  <a:srgbClr val="141414"/>
                </a:solidFill>
                <a:latin typeface="Arial"/>
              </a:rPr>
              <a:t>Easy to miss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26480" y="3255263"/>
            <a:ext cx="3200400" cy="566928"/>
          </a:xfrm>
          <a:prstGeom prst="rect">
            <a:avLst/>
          </a:prstGeom>
          <a:solidFill>
            <a:srgbClr val="F5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26480" y="3255263"/>
            <a:ext cx="3200400" cy="56692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0" i="0">
                <a:solidFill>
                  <a:srgbClr val="141414"/>
                </a:solidFill>
                <a:latin typeface="Arial"/>
              </a:rPr>
              <a:t>Shown with due date and impact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3822191"/>
            <a:ext cx="237744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3822191"/>
            <a:ext cx="2377440" cy="56692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1" i="0">
                <a:solidFill>
                  <a:srgbClr val="13234A"/>
                </a:solidFill>
                <a:latin typeface="Arial"/>
              </a:rPr>
              <a:t>Tender status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926080" y="3822191"/>
            <a:ext cx="320040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926080" y="3822191"/>
            <a:ext cx="3200400" cy="56692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0" i="0">
                <a:solidFill>
                  <a:srgbClr val="141414"/>
                </a:solidFill>
                <a:latin typeface="Arial"/>
              </a:rPr>
              <a:t>Ask a specialist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26480" y="3822191"/>
            <a:ext cx="320040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26480" y="3822191"/>
            <a:ext cx="3200400" cy="56692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0" i="0">
                <a:solidFill>
                  <a:srgbClr val="141414"/>
                </a:solidFill>
                <a:latin typeface="Arial"/>
              </a:rPr>
              <a:t>Self-service, with a link to act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4389120"/>
            <a:ext cx="2377440" cy="566928"/>
          </a:xfrm>
          <a:prstGeom prst="rect">
            <a:avLst/>
          </a:prstGeom>
          <a:solidFill>
            <a:srgbClr val="F5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8640" y="4389120"/>
            <a:ext cx="2377440" cy="56692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1" i="0">
                <a:solidFill>
                  <a:srgbClr val="13234A"/>
                </a:solidFill>
                <a:latin typeface="Arial"/>
              </a:rPr>
              <a:t>Response time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926080" y="4389120"/>
            <a:ext cx="3200400" cy="566928"/>
          </a:xfrm>
          <a:prstGeom prst="rect">
            <a:avLst/>
          </a:prstGeom>
          <a:solidFill>
            <a:srgbClr val="F5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926080" y="4389120"/>
            <a:ext cx="3200400" cy="56692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0" i="0">
                <a:solidFill>
                  <a:srgbClr val="141414"/>
                </a:solidFill>
                <a:latin typeface="Arial"/>
              </a:rPr>
              <a:t>Hours to days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26480" y="4389120"/>
            <a:ext cx="3200400" cy="566928"/>
          </a:xfrm>
          <a:prstGeom prst="rect">
            <a:avLst/>
          </a:prstGeom>
          <a:solidFill>
            <a:srgbClr val="F5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26480" y="4389120"/>
            <a:ext cx="3200400" cy="56692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0" i="0">
                <a:solidFill>
                  <a:srgbClr val="141414"/>
                </a:solidFill>
                <a:latin typeface="Arial"/>
              </a:rPr>
              <a:t>Seconds; complex cases go to people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8640" y="4956048"/>
            <a:ext cx="237744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8640" y="4956048"/>
            <a:ext cx="2377440" cy="56692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1" i="0">
                <a:solidFill>
                  <a:srgbClr val="13234A"/>
                </a:solidFill>
                <a:latin typeface="Arial"/>
              </a:rPr>
              <a:t>Availability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926080" y="4956048"/>
            <a:ext cx="320040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926080" y="4956048"/>
            <a:ext cx="3200400" cy="56692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0" i="0">
                <a:solidFill>
                  <a:srgbClr val="141414"/>
                </a:solidFill>
                <a:latin typeface="Arial"/>
              </a:rPr>
              <a:t>Office hours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26480" y="4956048"/>
            <a:ext cx="320040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26480" y="4956048"/>
            <a:ext cx="3200400" cy="56692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200" b="0" i="0">
                <a:solidFill>
                  <a:srgbClr val="141414"/>
                </a:solidFill>
                <a:latin typeface="Arial"/>
              </a:rPr>
              <a:t>24×7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555480" y="1554480"/>
            <a:ext cx="2103120" cy="3968496"/>
          </a:xfrm>
          <a:prstGeom prst="roundRect">
            <a:avLst>
              <a:gd name="adj" fmla="val 8000"/>
            </a:avLst>
          </a:prstGeom>
          <a:solidFill>
            <a:srgbClr val="132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601200" y="1691640"/>
            <a:ext cx="201168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200" b="1" i="0">
                <a:solidFill>
                  <a:srgbClr val="DAE4FF"/>
                </a:solidFill>
                <a:latin typeface="Arial"/>
              </a:rPr>
              <a:t>Example estimate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601200" y="2103120"/>
            <a:ext cx="2011680" cy="6400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Arial"/>
              </a:rPr>
              <a:t>200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601200" y="2697480"/>
            <a:ext cx="201168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100" b="0" i="0">
                <a:solidFill>
                  <a:srgbClr val="DAE4FF"/>
                </a:solidFill>
                <a:latin typeface="Arial"/>
              </a:rPr>
              <a:t>queries / month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601200" y="3108960"/>
            <a:ext cx="201168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× 10 min saved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601200" y="3611880"/>
            <a:ext cx="2011680" cy="6400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Arial"/>
              </a:rPr>
              <a:t>≈ 33 h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601200" y="4206240"/>
            <a:ext cx="2011680" cy="11887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050" b="0" i="0">
                <a:solidFill>
                  <a:srgbClr val="DAE4FF"/>
                </a:solidFill>
                <a:latin typeface="Arial"/>
              </a:rPr>
              <a:t>saved per month, before counting fewer delays and fewer specialist emails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548640" y="5623560"/>
            <a:ext cx="11109960" cy="5486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1450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0" i="0">
                <a:solidFill>
                  <a:srgbClr val="13234A"/>
                </a:solidFill>
                <a:latin typeface="Arial"/>
              </a:rPr>
              <a:t>KPIs: AI-solved share · response time · specialist hours saved · customer tasks on time · satisfaction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5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875520" cy="6400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600" b="1" i="0">
                <a:solidFill>
                  <a:srgbClr val="13234A"/>
                </a:solidFill>
                <a:latin typeface="Arial"/>
              </a:rPr>
              <a:t>Rollout: start small, prove value, scale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241280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500" b="0" i="0">
                <a:solidFill>
                  <a:srgbClr val="5B6478"/>
                </a:solidFill>
                <a:latin typeface="Arial"/>
              </a:rPr>
              <a:t>One pillar at a time; every phase is usable on its own</a:t>
            </a:r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1400" y="274320"/>
            <a:ext cx="640080" cy="640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00800"/>
            <a:ext cx="6400800" cy="3200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5B6478"/>
                </a:solidFill>
                <a:latin typeface="Arial"/>
              </a:rPr>
              <a:t>JarCube AI Assistant  ×  myKONE  |  v3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/>
            <a:r>
              <a:rPr sz="1000" b="0" i="0">
                <a:solidFill>
                  <a:srgbClr val="5B6478"/>
                </a:solidFill>
                <a:latin typeface="Arial"/>
              </a:rPr>
              <a:t>18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2788920"/>
            <a:ext cx="10607040" cy="73152"/>
          </a:xfrm>
          <a:prstGeom prst="rect">
            <a:avLst/>
          </a:prstGeom>
          <a:solidFill>
            <a:srgbClr val="E7ED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554480" y="2514600"/>
            <a:ext cx="594360" cy="594360"/>
          </a:xfrm>
          <a:prstGeom prst="ellipse">
            <a:avLst/>
          </a:prstGeom>
          <a:solidFill>
            <a:srgbClr val="145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508760"/>
            <a:ext cx="260604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300" b="1" i="0">
                <a:solidFill>
                  <a:srgbClr val="5B6478"/>
                </a:solidFill>
                <a:latin typeface="Arial"/>
              </a:rPr>
              <a:t>Phase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828800"/>
            <a:ext cx="2606040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2000" b="1" i="0">
                <a:solidFill>
                  <a:srgbClr val="13234A"/>
                </a:solidFill>
                <a:latin typeface="Arial"/>
              </a:rPr>
              <a:t>Know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383280"/>
            <a:ext cx="2606040" cy="2194560"/>
          </a:xfrm>
          <a:prstGeom prst="roundRect">
            <a:avLst>
              <a:gd name="adj" fmla="val 8000"/>
            </a:avLst>
          </a:prstGeom>
          <a:solidFill>
            <a:srgbClr val="F5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3383280"/>
            <a:ext cx="2423160" cy="73152"/>
          </a:xfrm>
          <a:prstGeom prst="rect">
            <a:avLst/>
          </a:prstGeom>
          <a:solidFill>
            <a:srgbClr val="145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3611880"/>
            <a:ext cx="2377440" cy="19202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141414"/>
                </a:solidFill>
                <a:latin typeface="Arial"/>
              </a:rPr>
              <a:t>•  Assistant on every myKONE page</a:t>
            </a:r>
          </a:p>
          <a:p>
            <a:pPr algn="l"/>
            <a:r>
              <a:rPr sz="1250" b="0" i="0">
                <a:solidFill>
                  <a:srgbClr val="141414"/>
                </a:solidFill>
                <a:latin typeface="Arial"/>
              </a:rPr>
              <a:t>•  Trained on guides, FAQs &amp; status glossary</a:t>
            </a:r>
          </a:p>
          <a:p>
            <a:pPr algn="l"/>
            <a:r>
              <a:rPr sz="1250" b="0" i="0">
                <a:solidFill>
                  <a:srgbClr val="141414"/>
                </a:solidFill>
                <a:latin typeface="Arial"/>
              </a:rPr>
              <a:t>•  Hand-over and tickets in place</a:t>
            </a:r>
          </a:p>
        </p:txBody>
      </p:sp>
      <p:sp>
        <p:nvSpPr>
          <p:cNvPr id="15" name="Oval 14"/>
          <p:cNvSpPr/>
          <p:nvPr/>
        </p:nvSpPr>
        <p:spPr>
          <a:xfrm>
            <a:off x="4389120" y="2514600"/>
            <a:ext cx="594360" cy="594360"/>
          </a:xfrm>
          <a:prstGeom prst="ellipse">
            <a:avLst/>
          </a:prstGeom>
          <a:solidFill>
            <a:srgbClr val="224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1508760"/>
            <a:ext cx="260604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300" b="1" i="0">
                <a:solidFill>
                  <a:srgbClr val="5B6478"/>
                </a:solidFill>
                <a:latin typeface="Arial"/>
              </a:rPr>
              <a:t>Phase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0" y="1828800"/>
            <a:ext cx="2606040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2000" b="1" i="0">
                <a:solidFill>
                  <a:srgbClr val="13234A"/>
                </a:solidFill>
                <a:latin typeface="Arial"/>
              </a:rPr>
              <a:t>Track &amp; Act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383280" y="3383280"/>
            <a:ext cx="2606040" cy="2194560"/>
          </a:xfrm>
          <a:prstGeom prst="roundRect">
            <a:avLst>
              <a:gd name="adj" fmla="val 8000"/>
            </a:avLst>
          </a:prstGeom>
          <a:solidFill>
            <a:srgbClr val="F5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74720" y="3383280"/>
            <a:ext cx="2423160" cy="73152"/>
          </a:xfrm>
          <a:prstGeom prst="rect">
            <a:avLst/>
          </a:prstGeom>
          <a:solidFill>
            <a:srgbClr val="224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20440" y="3611880"/>
            <a:ext cx="2377440" cy="19202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141414"/>
                </a:solidFill>
                <a:latin typeface="Arial"/>
              </a:rPr>
              <a:t>•  Delivery: STATUS → NEXT → ACTION → IMPACT</a:t>
            </a:r>
          </a:p>
          <a:p>
            <a:pPr algn="l"/>
            <a:r>
              <a:rPr sz="1250" b="0" i="0">
                <a:solidFill>
                  <a:srgbClr val="141414"/>
                </a:solidFill>
                <a:latin typeface="Arial"/>
              </a:rPr>
              <a:t>•  Tenders and inspection reports</a:t>
            </a:r>
          </a:p>
          <a:p>
            <a:pPr algn="l"/>
            <a:r>
              <a:rPr sz="1250" b="0" i="0">
                <a:solidFill>
                  <a:srgbClr val="141414"/>
                </a:solidFill>
                <a:latin typeface="Arial"/>
              </a:rPr>
              <a:t>•  Equipment status &amp; visits</a:t>
            </a:r>
          </a:p>
        </p:txBody>
      </p:sp>
      <p:sp>
        <p:nvSpPr>
          <p:cNvPr id="21" name="Oval 20"/>
          <p:cNvSpPr/>
          <p:nvPr/>
        </p:nvSpPr>
        <p:spPr>
          <a:xfrm>
            <a:off x="7223760" y="2514600"/>
            <a:ext cx="594360" cy="594360"/>
          </a:xfrm>
          <a:prstGeom prst="ellipse">
            <a:avLst/>
          </a:prstGeom>
          <a:solidFill>
            <a:srgbClr val="03A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1508760"/>
            <a:ext cx="260604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300" b="1" i="0">
                <a:solidFill>
                  <a:srgbClr val="5B6478"/>
                </a:solidFill>
                <a:latin typeface="Arial"/>
              </a:rPr>
              <a:t>Phase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1828800"/>
            <a:ext cx="2606040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2000" b="1" i="0">
                <a:solidFill>
                  <a:srgbClr val="13234A"/>
                </a:solidFill>
                <a:latin typeface="Arial"/>
              </a:rPr>
              <a:t>Full portal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3383280"/>
            <a:ext cx="2606040" cy="2194560"/>
          </a:xfrm>
          <a:prstGeom prst="roundRect">
            <a:avLst>
              <a:gd name="adj" fmla="val 8000"/>
            </a:avLst>
          </a:prstGeom>
          <a:solidFill>
            <a:srgbClr val="F5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09359" y="3383280"/>
            <a:ext cx="2423160" cy="73152"/>
          </a:xfrm>
          <a:prstGeom prst="rect">
            <a:avLst/>
          </a:prstGeom>
          <a:solidFill>
            <a:srgbClr val="03A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55080" y="3611880"/>
            <a:ext cx="2377440" cy="19202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141414"/>
                </a:solidFill>
                <a:latin typeface="Arial"/>
              </a:rPr>
              <a:t>•  Invoices</a:t>
            </a:r>
          </a:p>
          <a:p>
            <a:pPr algn="l"/>
            <a:r>
              <a:rPr sz="1250" b="0" i="0">
                <a:solidFill>
                  <a:srgbClr val="141414"/>
                </a:solidFill>
                <a:latin typeface="Arial"/>
              </a:rPr>
              <a:t>•  Page-aware answers (no IDs to type)</a:t>
            </a:r>
          </a:p>
          <a:p>
            <a:pPr algn="l"/>
            <a:r>
              <a:rPr sz="1250" b="0" i="0">
                <a:solidFill>
                  <a:srgbClr val="141414"/>
                </a:solidFill>
                <a:latin typeface="Arial"/>
              </a:rPr>
              <a:t>•  ServiceNow ticket hand-off</a:t>
            </a:r>
          </a:p>
        </p:txBody>
      </p:sp>
      <p:sp>
        <p:nvSpPr>
          <p:cNvPr id="27" name="Oval 26"/>
          <p:cNvSpPr/>
          <p:nvPr/>
        </p:nvSpPr>
        <p:spPr>
          <a:xfrm>
            <a:off x="10058400" y="2514600"/>
            <a:ext cx="594360" cy="594360"/>
          </a:xfrm>
          <a:prstGeom prst="ellipse">
            <a:avLst/>
          </a:prstGeom>
          <a:solidFill>
            <a:srgbClr val="2EA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0" y="1508760"/>
            <a:ext cx="260604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300" b="1" i="0">
                <a:solidFill>
                  <a:srgbClr val="5B6478"/>
                </a:solidFill>
                <a:latin typeface="Arial"/>
              </a:rPr>
              <a:t>Phase 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0" y="1828800"/>
            <a:ext cx="2606040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2000" b="1" i="0">
                <a:solidFill>
                  <a:srgbClr val="13234A"/>
                </a:solidFill>
                <a:latin typeface="Arial"/>
              </a:rPr>
              <a:t>Scale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052560" y="3383280"/>
            <a:ext cx="2606040" cy="2194560"/>
          </a:xfrm>
          <a:prstGeom prst="roundRect">
            <a:avLst>
              <a:gd name="adj" fmla="val 8000"/>
            </a:avLst>
          </a:prstGeom>
          <a:solidFill>
            <a:srgbClr val="F5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144000" y="3383280"/>
            <a:ext cx="2423160" cy="73152"/>
          </a:xfrm>
          <a:prstGeom prst="rect">
            <a:avLst/>
          </a:prstGeom>
          <a:solidFill>
            <a:srgbClr val="2EA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89720" y="3611880"/>
            <a:ext cx="2377440" cy="19202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141414"/>
                </a:solidFill>
                <a:latin typeface="Arial"/>
              </a:rPr>
              <a:t>•  Screenshot help</a:t>
            </a:r>
          </a:p>
          <a:p>
            <a:pPr algn="l"/>
            <a:r>
              <a:rPr sz="1250" b="0" i="0">
                <a:solidFill>
                  <a:srgbClr val="141414"/>
                </a:solidFill>
                <a:latin typeface="Arial"/>
              </a:rPr>
              <a:t>•  More countries &amp; languages</a:t>
            </a:r>
          </a:p>
          <a:p>
            <a:pPr algn="l"/>
            <a:r>
              <a:rPr sz="1250" b="0" i="0">
                <a:solidFill>
                  <a:srgbClr val="141414"/>
                </a:solidFill>
                <a:latin typeface="Arial"/>
              </a:rPr>
              <a:t>•  More channels &amp; KONE platforms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8640" y="5760720"/>
            <a:ext cx="11109960" cy="457200"/>
          </a:xfrm>
          <a:prstGeom prst="roundRect">
            <a:avLst>
              <a:gd name="adj" fmla="val 15000"/>
            </a:avLst>
          </a:prstGeom>
          <a:solidFill>
            <a:srgbClr val="132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0" i="0">
                <a:solidFill>
                  <a:srgbClr val="FFFFFF"/>
                </a:solidFill>
                <a:latin typeface="Arial"/>
              </a:rPr>
              <a:t>Pilot proposal: 1 country · 1 customer group · Phase 1 + delivery tracking · 8 weeks · go/no-go on the KPIs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5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875520" cy="6400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600" b="1" i="0">
                <a:solidFill>
                  <a:srgbClr val="13234A"/>
                </a:solidFill>
                <a:latin typeface="Arial"/>
              </a:rPr>
              <a:t>What we need from KONE to start the pilot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241280" cy="4572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500" b="0" i="0">
                <a:solidFill>
                  <a:srgbClr val="5B6478"/>
                </a:solidFill>
                <a:latin typeface="Arial"/>
              </a:rPr>
              <a:t>Decisions and access, no big programme</a:t>
            </a:r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1400" y="274320"/>
            <a:ext cx="640080" cy="640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00800"/>
            <a:ext cx="6400800" cy="3200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5B6478"/>
                </a:solidFill>
                <a:latin typeface="Arial"/>
              </a:rPr>
              <a:t>JarCube AI Assistant  ×  myKONE  |  v3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/>
            <a:r>
              <a:rPr sz="1000" b="0" i="0">
                <a:solidFill>
                  <a:srgbClr val="5B6478"/>
                </a:solidFill>
                <a:latin typeface="Arial"/>
              </a:rPr>
              <a:t>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554480"/>
            <a:ext cx="3520440" cy="3840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9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1554480"/>
            <a:ext cx="3520440" cy="685800"/>
          </a:xfrm>
          <a:prstGeom prst="roundRect">
            <a:avLst>
              <a:gd name="adj" fmla="val 10000"/>
            </a:avLst>
          </a:prstGeom>
          <a:solidFill>
            <a:srgbClr val="145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700" b="1" i="0">
                <a:solidFill>
                  <a:srgbClr val="FFFFFF"/>
                </a:solidFill>
                <a:latin typeface="Arial"/>
              </a:rPr>
              <a:t>Business Owner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468880"/>
            <a:ext cx="3108960" cy="28346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400" b="0" i="0">
                <a:solidFill>
                  <a:srgbClr val="141414"/>
                </a:solidFill>
                <a:latin typeface="Arial"/>
              </a:rPr>
              <a:t>✓  Pilot country and customer group</a:t>
            </a:r>
          </a:p>
          <a:p>
            <a:pPr algn="l"/>
            <a:r>
              <a:rPr sz="1400" b="0" i="0">
                <a:solidFill>
                  <a:srgbClr val="141414"/>
                </a:solidFill>
                <a:latin typeface="Arial"/>
              </a:rPr>
              <a:t>✓  Agree success KPIs and targets</a:t>
            </a:r>
          </a:p>
          <a:p>
            <a:pPr algn="l"/>
            <a:r>
              <a:rPr sz="1400" b="0" i="0">
                <a:solidFill>
                  <a:srgbClr val="141414"/>
                </a:solidFill>
                <a:latin typeface="Arial"/>
              </a:rPr>
              <a:t>✓  Which topics always go to a person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79" y="1554480"/>
            <a:ext cx="3520440" cy="3840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9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297679" y="1554480"/>
            <a:ext cx="3520440" cy="685800"/>
          </a:xfrm>
          <a:prstGeom prst="roundRect">
            <a:avLst>
              <a:gd name="adj" fmla="val 10000"/>
            </a:avLst>
          </a:prstGeom>
          <a:solidFill>
            <a:srgbClr val="145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700" b="1" i="0">
                <a:solidFill>
                  <a:srgbClr val="FFFFFF"/>
                </a:solidFill>
                <a:latin typeface="Arial"/>
              </a:rPr>
              <a:t>Product Owner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79" y="2468880"/>
            <a:ext cx="3108960" cy="28346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400" b="0" i="0">
                <a:solidFill>
                  <a:srgbClr val="141414"/>
                </a:solidFill>
                <a:latin typeface="Arial"/>
              </a:rPr>
              <a:t>✓  Approved content: guides, FAQs, Service Transparency</a:t>
            </a:r>
          </a:p>
          <a:p>
            <a:pPr algn="l"/>
            <a:r>
              <a:rPr sz="1400" b="0" i="0">
                <a:solidFill>
                  <a:srgbClr val="141414"/>
                </a:solidFill>
                <a:latin typeface="Arial"/>
              </a:rPr>
              <a:t>✓  Status and task wording sign-off</a:t>
            </a:r>
          </a:p>
          <a:p>
            <a:pPr algn="l"/>
            <a:r>
              <a:rPr sz="1400" b="0" i="0">
                <a:solidFill>
                  <a:srgbClr val="141414"/>
                </a:solidFill>
                <a:latin typeface="Arial"/>
              </a:rPr>
              <a:t>✓  Placement of the assistant in the portal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19" y="1554480"/>
            <a:ext cx="3520440" cy="3840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9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046719" y="1554480"/>
            <a:ext cx="3520440" cy="685800"/>
          </a:xfrm>
          <a:prstGeom prst="roundRect">
            <a:avLst>
              <a:gd name="adj" fmla="val 10000"/>
            </a:avLst>
          </a:prstGeom>
          <a:solidFill>
            <a:srgbClr val="145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700" b="1" i="0">
                <a:solidFill>
                  <a:srgbClr val="FFFFFF"/>
                </a:solidFill>
                <a:latin typeface="Arial"/>
              </a:rPr>
              <a:t>CTO / Architecture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19" y="2468880"/>
            <a:ext cx="3108960" cy="28346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400" b="0" i="0">
                <a:solidFill>
                  <a:srgbClr val="141414"/>
                </a:solidFill>
                <a:latin typeface="Arial"/>
              </a:rPr>
              <a:t>✓  Test account and test data</a:t>
            </a:r>
          </a:p>
          <a:p>
            <a:pPr algn="l"/>
            <a:r>
              <a:rPr sz="1400" b="0" i="0">
                <a:solidFill>
                  <a:srgbClr val="141414"/>
                </a:solidFill>
                <a:latin typeface="Arial"/>
              </a:rPr>
              <a:t>✓  Approval for the KONE-hosted connector</a:t>
            </a:r>
          </a:p>
          <a:p>
            <a:pPr algn="l"/>
            <a:r>
              <a:rPr sz="1400" b="0" i="0">
                <a:solidFill>
                  <a:srgbClr val="141414"/>
                </a:solidFill>
                <a:latin typeface="Arial"/>
              </a:rPr>
              <a:t>✓  Security &amp; data-privacy review, AI model choice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5623560"/>
            <a:ext cx="11109960" cy="548640"/>
          </a:xfrm>
          <a:prstGeom prst="roundRect">
            <a:avLst>
              <a:gd name="adj" fmla="val 15000"/>
            </a:avLst>
          </a:prstGeom>
          <a:solidFill>
            <a:srgbClr val="E7ED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 i="0">
                <a:solidFill>
                  <a:srgbClr val="13234A"/>
                </a:solidFill>
                <a:latin typeface="Arial"/>
              </a:rPr>
              <a:t>Next step: a 30-minute live demo with Phase 1 on a myKONE test environment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2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371600" y="3840480"/>
            <a:ext cx="5486400" cy="5486400"/>
          </a:xfrm>
          <a:prstGeom prst="ellipse">
            <a:avLst/>
          </a:prstGeom>
          <a:solidFill>
            <a:srgbClr val="145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widget-rob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1554480"/>
            <a:ext cx="3657600" cy="3149369"/>
          </a:xfrm>
          <a:prstGeom prst="rect">
            <a:avLst/>
          </a:prstGeom>
        </p:spPr>
      </p:pic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640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1920240"/>
            <a:ext cx="6858000" cy="9144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5000" b="1" i="0">
                <a:solidFill>
                  <a:srgbClr val="FFFFFF"/>
                </a:solidFill>
                <a:latin typeface="Arial"/>
              </a:rP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926080"/>
            <a:ext cx="6675120" cy="12801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900" b="0" i="0">
                <a:solidFill>
                  <a:srgbClr val="DAE4FF"/>
                </a:solidFill>
                <a:latin typeface="Arial"/>
              </a:rPr>
              <a:t>Don't just tell customers where their project is. Tell them what happens next and what they need to do to keep it moving.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480560"/>
            <a:ext cx="6400800" cy="5486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Arial"/>
              </a:rPr>
              <a:t>Questions &amp; live demo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