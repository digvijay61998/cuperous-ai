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promise: every myKONE user gets an expert assistant that knows their tenders, reports and equipment.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real journey. Quick queries have no channel at all except email.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680960" y="-1097280"/>
            <a:ext cx="5943600" cy="5943600"/>
          </a:xfrm>
          <a:prstGeom prst="ellipse">
            <a:avLst/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509760" y="4206240"/>
            <a:ext cx="4114800" cy="4114800"/>
          </a:xfrm>
          <a:prstGeom prst="ellipse">
            <a:avLst/>
          </a:prstGeom>
          <a:solidFill>
            <a:srgbClr val="224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widget-rob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1371600"/>
            <a:ext cx="3474720" cy="2991900"/>
          </a:xfrm>
          <a:prstGeom prst="rect">
            <a:avLst/>
          </a:prstGeom>
        </p:spPr>
      </p:pic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640080"/>
            <a:ext cx="1005840" cy="10058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920240" y="868680"/>
            <a:ext cx="1554480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kone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7400" y="969264"/>
            <a:ext cx="1280160" cy="51419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2103120"/>
            <a:ext cx="7315200" cy="1645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Arial"/>
              </a:rPr>
              <a:t>JarCube AI Assistant</a:t>
            </a:r>
          </a:p>
          <a:p>
            <a:pPr algn="l"/>
            <a:r>
              <a:rPr sz="4800" b="1" i="0">
                <a:solidFill>
                  <a:srgbClr val="FFFFFF"/>
                </a:solidFill>
                <a:latin typeface="Arial"/>
              </a:rPr>
              <a:t>for myKONE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794760"/>
            <a:ext cx="6675120" cy="9144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800" b="0" i="0">
                <a:solidFill>
                  <a:srgbClr val="DAE4FF"/>
                </a:solidFill>
                <a:latin typeface="Arial"/>
              </a:rPr>
              <a:t>Instant, secure, 24×7 answers for every myKONE user: tenders, inspection reports and equipment, all in one chat.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983480"/>
            <a:ext cx="201168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120640"/>
            <a:ext cx="64008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DAE4FF"/>
                </a:solidFill>
                <a:latin typeface="Arial"/>
              </a:rPr>
              <a:t>Product demo  · 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3000" b="1" i="0">
                <a:solidFill>
                  <a:srgbClr val="13234A"/>
                </a:solidFill>
                <a:latin typeface="Arial"/>
              </a:rPr>
              <a:t>Agenda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274320"/>
            <a:ext cx="640080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5B6478"/>
                </a:solidFill>
                <a:latin typeface="Arial"/>
              </a:rPr>
              <a:t>JarCube AI Assistant  ×  myKONE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1000" b="0" i="0">
                <a:solidFill>
                  <a:srgbClr val="5B6478"/>
                </a:solidFill>
                <a:latin typeface="Arial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5394960" cy="1024128"/>
          </a:xfrm>
          <a:prstGeom prst="roundRect">
            <a:avLst>
              <a:gd name="adj" fmla="val 12000"/>
            </a:avLst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1554480"/>
            <a:ext cx="658368" cy="658368"/>
          </a:xfrm>
          <a:prstGeom prst="ellipse">
            <a:avLst/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527048"/>
            <a:ext cx="429768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13234A"/>
                </a:solidFill>
                <a:latin typeface="Arial"/>
              </a:rPr>
              <a:t>Where we are today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92807"/>
            <a:ext cx="429768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5B6478"/>
                </a:solidFill>
                <a:latin typeface="Arial"/>
              </a:rPr>
              <a:t>How myKONE users get help right now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5394960" cy="1024128"/>
          </a:xfrm>
          <a:prstGeom prst="roundRect">
            <a:avLst>
              <a:gd name="adj" fmla="val 12000"/>
            </a:avLst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00800" y="1554480"/>
            <a:ext cx="658368" cy="658368"/>
          </a:xfrm>
          <a:prstGeom prst="ellipse">
            <a:avLst/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527048"/>
            <a:ext cx="429768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13234A"/>
                </a:solidFill>
                <a:latin typeface="Arial"/>
              </a:rPr>
              <a:t>Meet JarCube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1892807"/>
            <a:ext cx="429768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5B6478"/>
                </a:solidFill>
                <a:latin typeface="Arial"/>
              </a:rPr>
              <a:t>An AI assistant trained on your platform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578608"/>
            <a:ext cx="5394960" cy="1024128"/>
          </a:xfrm>
          <a:prstGeom prst="roundRect">
            <a:avLst>
              <a:gd name="adj" fmla="val 12000"/>
            </a:avLst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2761488"/>
            <a:ext cx="658368" cy="658368"/>
          </a:xfrm>
          <a:prstGeom prst="ellipse">
            <a:avLst/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2734056"/>
            <a:ext cx="429768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13234A"/>
                </a:solidFill>
                <a:latin typeface="Arial"/>
              </a:rPr>
              <a:t>Use cases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099816"/>
            <a:ext cx="429768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5B6478"/>
                </a:solidFill>
                <a:latin typeface="Arial"/>
              </a:rPr>
              <a:t>Tenders · 3PI reports · Equipment · FAQs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578608"/>
            <a:ext cx="5394960" cy="1024128"/>
          </a:xfrm>
          <a:prstGeom prst="roundRect">
            <a:avLst>
              <a:gd name="adj" fmla="val 12000"/>
            </a:avLst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00800" y="2761488"/>
            <a:ext cx="658368" cy="658368"/>
          </a:xfrm>
          <a:prstGeom prst="ellipse">
            <a:avLst/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2734056"/>
            <a:ext cx="429768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13234A"/>
                </a:solidFill>
                <a:latin typeface="Arial"/>
              </a:rPr>
              <a:t>Safe by design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3099816"/>
            <a:ext cx="429768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5B6478"/>
                </a:solidFill>
                <a:latin typeface="Arial"/>
              </a:rPr>
              <a:t>The right answer, only to the right user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785616"/>
            <a:ext cx="5394960" cy="1024128"/>
          </a:xfrm>
          <a:prstGeom prst="roundRect">
            <a:avLst>
              <a:gd name="adj" fmla="val 12000"/>
            </a:avLst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3968496"/>
            <a:ext cx="658368" cy="658368"/>
          </a:xfrm>
          <a:prstGeom prst="ellipse">
            <a:avLst/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941064"/>
            <a:ext cx="429768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13234A"/>
                </a:solidFill>
                <a:latin typeface="Arial"/>
              </a:rPr>
              <a:t>Support team dashboard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4306824"/>
            <a:ext cx="429768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5B6478"/>
                </a:solidFill>
                <a:latin typeface="Arial"/>
              </a:rPr>
              <a:t>Live inbox, takeover, tickets, insights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3785616"/>
            <a:ext cx="5394960" cy="1024128"/>
          </a:xfrm>
          <a:prstGeom prst="roundRect">
            <a:avLst>
              <a:gd name="adj" fmla="val 12000"/>
            </a:avLst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00800" y="3968496"/>
            <a:ext cx="658368" cy="658368"/>
          </a:xfrm>
          <a:prstGeom prst="ellipse">
            <a:avLst/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3941064"/>
            <a:ext cx="429768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13234A"/>
                </a:solidFill>
                <a:latin typeface="Arial"/>
              </a:rPr>
              <a:t>Any platform, any channel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0" y="4306824"/>
            <a:ext cx="429768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5B6478"/>
                </a:solidFill>
                <a:latin typeface="Arial"/>
              </a:rPr>
              <a:t>Train, plug in, go live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4992624"/>
            <a:ext cx="5394960" cy="1024128"/>
          </a:xfrm>
          <a:prstGeom prst="roundRect">
            <a:avLst>
              <a:gd name="adj" fmla="val 12000"/>
            </a:avLst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31520" y="5175504"/>
            <a:ext cx="658368" cy="658368"/>
          </a:xfrm>
          <a:prstGeom prst="ellipse">
            <a:avLst/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54480" y="5148072"/>
            <a:ext cx="429768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13234A"/>
                </a:solidFill>
                <a:latin typeface="Arial"/>
              </a:rPr>
              <a:t>Impact &amp; next steps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5513832"/>
            <a:ext cx="429768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5B6478"/>
                </a:solidFill>
                <a:latin typeface="Arial"/>
              </a:rPr>
              <a:t>Before vs after, and the rollout plan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3000" b="1" i="0">
                <a:solidFill>
                  <a:srgbClr val="13234A"/>
                </a:solidFill>
                <a:latin typeface="Arial"/>
              </a:rPr>
              <a:t>Today: getting help on myKONE is slow and manual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0584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600" b="0" i="0">
                <a:solidFill>
                  <a:srgbClr val="5B6478"/>
                </a:solidFill>
                <a:latin typeface="Arial"/>
              </a:rPr>
              <a:t>Every question, big or small, goes through people, phones and inboxes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274320"/>
            <a:ext cx="640080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5B6478"/>
                </a:solidFill>
                <a:latin typeface="Arial"/>
              </a:rPr>
              <a:t>JarCube AI Assistant  ×  myKONE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1000" b="0" i="0">
                <a:solidFill>
                  <a:srgbClr val="5B6478"/>
                </a:solidFill>
                <a:latin typeface="Arial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83080"/>
            <a:ext cx="1600200" cy="1600200"/>
          </a:xfrm>
          <a:prstGeom prst="roundRect">
            <a:avLst>
              <a:gd name="adj" fmla="val 10000"/>
            </a:avLst>
          </a:prstGeom>
          <a:solidFill>
            <a:srgbClr val="F5F8FF"/>
          </a:solidFill>
          <a:ln w="12700">
            <a:solidFill>
              <a:srgbClr val="C9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160020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2800" b="0" i="0">
                <a:solidFill>
                  <a:srgbClr val="13234A"/>
                </a:solidFill>
                <a:latin typeface="Arial"/>
              </a:rPr>
              <a:t>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14600"/>
            <a:ext cx="16002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13234A"/>
                </a:solidFill>
                <a:latin typeface="Arial"/>
              </a:rPr>
              <a:t>myKONE user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852928"/>
            <a:ext cx="16002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200" b="0" i="0">
                <a:solidFill>
                  <a:srgbClr val="5B6478"/>
                </a:solidFill>
                <a:latin typeface="Arial"/>
              </a:rPr>
              <a:t>has a question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176272" y="2578608"/>
            <a:ext cx="283464" cy="0"/>
          </a:xfrm>
          <a:prstGeom prst="line">
            <a:avLst/>
          </a:prstGeom>
          <a:ln w="31750">
            <a:solidFill>
              <a:srgbClr val="1450F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487168" y="1783080"/>
            <a:ext cx="1600200" cy="1600200"/>
          </a:xfrm>
          <a:prstGeom prst="roundRect">
            <a:avLst>
              <a:gd name="adj" fmla="val 10000"/>
            </a:avLst>
          </a:prstGeom>
          <a:solidFill>
            <a:srgbClr val="F5F8FF"/>
          </a:solidFill>
          <a:ln w="12700">
            <a:solidFill>
              <a:srgbClr val="C9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87168" y="1920240"/>
            <a:ext cx="160020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2800" b="0" i="0">
                <a:solidFill>
                  <a:srgbClr val="13234A"/>
                </a:solidFill>
                <a:latin typeface="Arial"/>
              </a:rPr>
              <a:t>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87168" y="2514600"/>
            <a:ext cx="16002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13234A"/>
                </a:solidFill>
                <a:latin typeface="Arial"/>
              </a:rPr>
              <a:t>Calls / emails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87168" y="2852928"/>
            <a:ext cx="16002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200" b="0" i="0">
                <a:solidFill>
                  <a:srgbClr val="5B6478"/>
                </a:solidFill>
                <a:latin typeface="Arial"/>
              </a:rPr>
              <a:t>Tender Specialist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114800" y="2578608"/>
            <a:ext cx="283464" cy="0"/>
          </a:xfrm>
          <a:prstGeom prst="line">
            <a:avLst/>
          </a:prstGeom>
          <a:ln w="31750">
            <a:solidFill>
              <a:srgbClr val="1450F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425696" y="1783080"/>
            <a:ext cx="1600200" cy="1600200"/>
          </a:xfrm>
          <a:prstGeom prst="roundRect">
            <a:avLst>
              <a:gd name="adj" fmla="val 10000"/>
            </a:avLst>
          </a:prstGeom>
          <a:solidFill>
            <a:srgbClr val="F5F8FF"/>
          </a:solidFill>
          <a:ln w="12700">
            <a:solidFill>
              <a:srgbClr val="C9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25696" y="1920240"/>
            <a:ext cx="160020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2800" b="0" i="0">
                <a:solidFill>
                  <a:srgbClr val="13234A"/>
                </a:solidFill>
                <a:latin typeface="Arial"/>
              </a:rPr>
              <a:t>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25696" y="2514600"/>
            <a:ext cx="16002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13234A"/>
                </a:solidFill>
                <a:latin typeface="Arial"/>
              </a:rPr>
              <a:t>ServiceNow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25696" y="2852928"/>
            <a:ext cx="16002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200" b="0" i="0">
                <a:solidFill>
                  <a:srgbClr val="5B6478"/>
                </a:solidFill>
                <a:latin typeface="Arial"/>
              </a:rPr>
              <a:t>ticket raised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53328" y="2578608"/>
            <a:ext cx="283464" cy="0"/>
          </a:xfrm>
          <a:prstGeom prst="line">
            <a:avLst/>
          </a:prstGeom>
          <a:ln w="31750">
            <a:solidFill>
              <a:srgbClr val="1450F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364224" y="1783080"/>
            <a:ext cx="1600200" cy="1600200"/>
          </a:xfrm>
          <a:prstGeom prst="roundRect">
            <a:avLst>
              <a:gd name="adj" fmla="val 10000"/>
            </a:avLst>
          </a:prstGeom>
          <a:solidFill>
            <a:srgbClr val="F5F8FF"/>
          </a:solidFill>
          <a:ln w="12700">
            <a:solidFill>
              <a:srgbClr val="C9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4224" y="1920240"/>
            <a:ext cx="160020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2800" b="0" i="0">
                <a:solidFill>
                  <a:srgbClr val="13234A"/>
                </a:solidFill>
                <a:latin typeface="Arial"/>
              </a:rPr>
              <a:t>🧑‍💻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2514600"/>
            <a:ext cx="16002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13234A"/>
                </a:solidFill>
                <a:latin typeface="Arial"/>
              </a:rPr>
              <a:t>Assigned 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64224" y="2852928"/>
            <a:ext cx="16002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200" b="0" i="0">
                <a:solidFill>
                  <a:srgbClr val="5B6478"/>
                </a:solidFill>
                <a:latin typeface="Arial"/>
              </a:rPr>
              <a:t>agent / developer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991856" y="2578608"/>
            <a:ext cx="283464" cy="0"/>
          </a:xfrm>
          <a:prstGeom prst="line">
            <a:avLst/>
          </a:prstGeom>
          <a:ln w="31750">
            <a:solidFill>
              <a:srgbClr val="1450F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302752" y="1783080"/>
            <a:ext cx="1600200" cy="1600200"/>
          </a:xfrm>
          <a:prstGeom prst="roundRect">
            <a:avLst>
              <a:gd name="adj" fmla="val 10000"/>
            </a:avLst>
          </a:prstGeom>
          <a:solidFill>
            <a:srgbClr val="FFF1EE"/>
          </a:solidFill>
          <a:ln w="12700">
            <a:solidFill>
              <a:srgbClr val="C9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02752" y="1920240"/>
            <a:ext cx="160020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2800" b="0" i="0">
                <a:solidFill>
                  <a:srgbClr val="13234A"/>
                </a:solidFill>
                <a:latin typeface="Arial"/>
              </a:rPr>
              <a:t>⏳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02752" y="2514600"/>
            <a:ext cx="16002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13234A"/>
                </a:solidFill>
                <a:latin typeface="Arial"/>
              </a:rPr>
              <a:t>Waiting…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02752" y="2852928"/>
            <a:ext cx="16002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200" b="0" i="0">
                <a:solidFill>
                  <a:srgbClr val="5B6478"/>
                </a:solidFill>
                <a:latin typeface="Arial"/>
              </a:rPr>
              <a:t>hours to days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930384" y="2578608"/>
            <a:ext cx="283464" cy="0"/>
          </a:xfrm>
          <a:prstGeom prst="line">
            <a:avLst/>
          </a:prstGeom>
          <a:ln w="31750">
            <a:solidFill>
              <a:srgbClr val="1450F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0241280" y="1783080"/>
            <a:ext cx="1600200" cy="1600200"/>
          </a:xfrm>
          <a:prstGeom prst="roundRect">
            <a:avLst>
              <a:gd name="adj" fmla="val 10000"/>
            </a:avLst>
          </a:prstGeom>
          <a:solidFill>
            <a:srgbClr val="F5F8FF"/>
          </a:solidFill>
          <a:ln w="12700">
            <a:solidFill>
              <a:srgbClr val="C9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41280" y="1920240"/>
            <a:ext cx="160020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2800" b="0" i="0">
                <a:solidFill>
                  <a:srgbClr val="13234A"/>
                </a:solidFill>
                <a:latin typeface="Arial"/>
              </a:rPr>
              <a:t>✉️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41280" y="2514600"/>
            <a:ext cx="16002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13234A"/>
                </a:solidFill>
                <a:latin typeface="Arial"/>
              </a:rPr>
              <a:t>Answer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41280" y="2852928"/>
            <a:ext cx="16002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200" b="0" i="0">
                <a:solidFill>
                  <a:srgbClr val="5B6478"/>
                </a:solidFill>
                <a:latin typeface="Arial"/>
              </a:rPr>
              <a:t>by email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3886200"/>
            <a:ext cx="260604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C9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0080" y="3886200"/>
            <a:ext cx="2423160" cy="73152"/>
          </a:xfrm>
          <a:prstGeom prst="rect">
            <a:avLst/>
          </a:prstGeom>
          <a:solidFill>
            <a:srgbClr val="E539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4069080"/>
            <a:ext cx="237744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E5391A"/>
                </a:solidFill>
                <a:latin typeface="Arial"/>
              </a:rPr>
              <a:t>No self-service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4526280"/>
            <a:ext cx="2377440" cy="1463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141414"/>
                </a:solidFill>
                <a:latin typeface="Arial"/>
              </a:rPr>
              <a:t>Even a simple “what is my tender status?” needs a call or an email.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355848" y="3886200"/>
            <a:ext cx="260604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C9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447288" y="3886200"/>
            <a:ext cx="2423160" cy="73152"/>
          </a:xfrm>
          <a:prstGeom prst="rect">
            <a:avLst/>
          </a:prstGeom>
          <a:solidFill>
            <a:srgbClr val="E539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493008" y="4069080"/>
            <a:ext cx="237744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E5391A"/>
                </a:solidFill>
                <a:latin typeface="Arial"/>
              </a:rPr>
              <a:t>Slow answers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93008" y="4526280"/>
            <a:ext cx="2377440" cy="1463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141414"/>
                </a:solidFill>
                <a:latin typeface="Arial"/>
              </a:rPr>
              <a:t>Users wait in inboxes and ticket queues while their work stalls.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163055" y="3886200"/>
            <a:ext cx="260604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C9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54495" y="3886200"/>
            <a:ext cx="2423160" cy="73152"/>
          </a:xfrm>
          <a:prstGeom prst="rect">
            <a:avLst/>
          </a:prstGeom>
          <a:solidFill>
            <a:srgbClr val="E539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00216" y="4069080"/>
            <a:ext cx="237744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E5391A"/>
                </a:solidFill>
                <a:latin typeface="Arial"/>
              </a:rPr>
              <a:t>Specialists overloaded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00216" y="4526280"/>
            <a:ext cx="2377440" cy="1463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141414"/>
                </a:solidFill>
                <a:latin typeface="Arial"/>
              </a:rPr>
              <a:t>Experts spend their day on repeat questions instead of high-value work.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970263" y="3886200"/>
            <a:ext cx="260604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C9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061703" y="3886200"/>
            <a:ext cx="2423160" cy="73152"/>
          </a:xfrm>
          <a:prstGeom prst="rect">
            <a:avLst/>
          </a:prstGeom>
          <a:solidFill>
            <a:srgbClr val="E539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107424" y="4069080"/>
            <a:ext cx="237744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E5391A"/>
                </a:solidFill>
                <a:latin typeface="Arial"/>
              </a:rPr>
              <a:t>Office hours only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07424" y="4526280"/>
            <a:ext cx="2377440" cy="1463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141414"/>
                </a:solidFill>
                <a:latin typeface="Arial"/>
              </a:rPr>
              <a:t>No help in the evening, at weekends or across time zones.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3000" b="1" i="0">
                <a:solidFill>
                  <a:srgbClr val="13234A"/>
                </a:solidFill>
                <a:latin typeface="Arial"/>
              </a:rPr>
              <a:t>Meet JarCube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0584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600" b="0" i="0">
                <a:solidFill>
                  <a:srgbClr val="5B6478"/>
                </a:solidFill>
                <a:latin typeface="Arial"/>
              </a:rPr>
              <a:t>An AI assistant that learns your platform and talks to your users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274320"/>
            <a:ext cx="640080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5B6478"/>
                </a:solidFill>
                <a:latin typeface="Arial"/>
              </a:rPr>
              <a:t>JarCube AI Assistant  ×  myKONE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1000" b="0" i="0">
                <a:solidFill>
                  <a:srgbClr val="5B6478"/>
                </a:solidFill>
                <a:latin typeface="Arial"/>
              </a:rPr>
              <a:t>4</a:t>
            </a:r>
          </a:p>
        </p:txBody>
      </p:sp>
      <p:pic>
        <p:nvPicPr>
          <p:cNvPr id="8" name="Picture 7" descr="widget-rob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37360"/>
            <a:ext cx="3291840" cy="28344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4754880"/>
            <a:ext cx="3657600" cy="11887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500" b="0" i="1">
                <a:solidFill>
                  <a:srgbClr val="13234A"/>
                </a:solidFill>
                <a:latin typeface="Arial"/>
              </a:rPr>
              <a:t>“Ask me anything about your tenders, reports or equipment. I’m here 24×7.”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508760"/>
            <a:ext cx="3520440" cy="1417320"/>
          </a:xfrm>
          <a:prstGeom prst="roundRect">
            <a:avLst>
              <a:gd name="adj" fmla="val 10000"/>
            </a:avLst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0" y="1691639"/>
            <a:ext cx="73152" cy="1051560"/>
          </a:xfrm>
          <a:prstGeom prst="rect">
            <a:avLst/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1645919"/>
            <a:ext cx="32004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13234A"/>
                </a:solidFill>
                <a:latin typeface="Arial"/>
              </a:rPr>
              <a:t>Trained on your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039112"/>
            <a:ext cx="3200400" cy="8686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5B6478"/>
                </a:solidFill>
                <a:latin typeface="Arial"/>
              </a:rPr>
              <a:t>Learns from myKONE guides, FAQs, process documents and website content.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508760"/>
            <a:ext cx="3520440" cy="1417320"/>
          </a:xfrm>
          <a:prstGeom prst="roundRect">
            <a:avLst>
              <a:gd name="adj" fmla="val 10000"/>
            </a:avLst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691639"/>
            <a:ext cx="73152" cy="1051560"/>
          </a:xfrm>
          <a:prstGeom prst="rect">
            <a:avLst/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1645919"/>
            <a:ext cx="32004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13234A"/>
                </a:solidFill>
                <a:latin typeface="Arial"/>
              </a:rPr>
              <a:t>Answers instantly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039112"/>
            <a:ext cx="3200400" cy="8686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5B6478"/>
                </a:solidFill>
                <a:latin typeface="Arial"/>
              </a:rPr>
              <a:t>Natural conversation at any hour, in seconds instead of days.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60" y="3108960"/>
            <a:ext cx="3520440" cy="1417320"/>
          </a:xfrm>
          <a:prstGeom prst="roundRect">
            <a:avLst>
              <a:gd name="adj" fmla="val 10000"/>
            </a:avLst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80560" y="3291840"/>
            <a:ext cx="73152" cy="1051560"/>
          </a:xfrm>
          <a:prstGeom prst="rect">
            <a:avLst/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09160" y="3246120"/>
            <a:ext cx="32004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13234A"/>
                </a:solidFill>
                <a:latin typeface="Arial"/>
              </a:rPr>
              <a:t>Knows the user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3639312"/>
            <a:ext cx="3200400" cy="8686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5B6478"/>
                </a:solidFill>
                <a:latin typeface="Arial"/>
              </a:rPr>
              <a:t>Answers about the user’s own tenders, reports and equipment.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3108960"/>
            <a:ext cx="3520440" cy="1417320"/>
          </a:xfrm>
          <a:prstGeom prst="roundRect">
            <a:avLst>
              <a:gd name="adj" fmla="val 10000"/>
            </a:avLst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0" y="3291840"/>
            <a:ext cx="73152" cy="1051560"/>
          </a:xfrm>
          <a:prstGeom prst="rect">
            <a:avLst/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58200" y="3246120"/>
            <a:ext cx="32004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13234A"/>
                </a:solidFill>
                <a:latin typeface="Arial"/>
              </a:rPr>
              <a:t>Knows its limits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3639312"/>
            <a:ext cx="3200400" cy="8686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5B6478"/>
                </a:solidFill>
                <a:latin typeface="Arial"/>
              </a:rPr>
              <a:t>If it is not sure, it hands over to a specialist instead of guessing.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80560" y="4709160"/>
            <a:ext cx="3520440" cy="1417320"/>
          </a:xfrm>
          <a:prstGeom prst="roundRect">
            <a:avLst>
              <a:gd name="adj" fmla="val 10000"/>
            </a:avLst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80560" y="4892040"/>
            <a:ext cx="73152" cy="1051560"/>
          </a:xfrm>
          <a:prstGeom prst="rect">
            <a:avLst/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9160" y="4846320"/>
            <a:ext cx="32004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13234A"/>
                </a:solidFill>
                <a:latin typeface="Arial"/>
              </a:rPr>
              <a:t>Keeps humans in control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9160" y="5239512"/>
            <a:ext cx="3200400" cy="8686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5B6478"/>
                </a:solidFill>
                <a:latin typeface="Arial"/>
              </a:rPr>
              <a:t>The support team sees every chat and can take over at any moment.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0" y="4709160"/>
            <a:ext cx="3520440" cy="1417320"/>
          </a:xfrm>
          <a:prstGeom prst="roundRect">
            <a:avLst>
              <a:gd name="adj" fmla="val 10000"/>
            </a:avLst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29600" y="4892040"/>
            <a:ext cx="73152" cy="1051560"/>
          </a:xfrm>
          <a:prstGeom prst="rect">
            <a:avLst/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58200" y="4846320"/>
            <a:ext cx="32004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13234A"/>
                </a:solidFill>
                <a:latin typeface="Arial"/>
              </a:rPr>
              <a:t>Works everywhere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200" y="5239512"/>
            <a:ext cx="3200400" cy="8686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5B6478"/>
                </a:solidFill>
                <a:latin typeface="Arial"/>
              </a:rPr>
              <a:t>Website widget today; WhatsApp, Telegram and more when needed.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3000" b="1" i="0">
                <a:solidFill>
                  <a:srgbClr val="13234A"/>
                </a:solidFill>
                <a:latin typeface="Arial"/>
              </a:rPr>
              <a:t>How it works: four simple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0584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600" b="0" i="0">
                <a:solidFill>
                  <a:srgbClr val="5B6478"/>
                </a:solidFill>
                <a:latin typeface="Arial"/>
              </a:rPr>
              <a:t>Users keep working in myKONE as they do today; the assistant is there on every page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274320"/>
            <a:ext cx="640080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5B6478"/>
                </a:solidFill>
                <a:latin typeface="Arial"/>
              </a:rPr>
              <a:t>JarCube AI Assistant  ×  myKONE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1000" b="0" i="0">
                <a:solidFill>
                  <a:srgbClr val="5B6478"/>
                </a:solidFill>
                <a:latin typeface="Arial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37360"/>
            <a:ext cx="2560320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17319" y="2011680"/>
            <a:ext cx="822960" cy="822960"/>
          </a:xfrm>
          <a:prstGeom prst="ellipse">
            <a:avLst/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6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17520"/>
            <a:ext cx="256032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2200" b="1" i="0">
                <a:solidFill>
                  <a:srgbClr val="13234A"/>
                </a:solidFill>
                <a:latin typeface="Arial"/>
              </a:rPr>
              <a:t>Train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566160"/>
            <a:ext cx="2194560" cy="1645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350" b="0" i="0">
                <a:solidFill>
                  <a:srgbClr val="5B6478"/>
                </a:solidFill>
                <a:latin typeface="Arial"/>
              </a:rPr>
              <a:t>Upload myKONE documents, FAQs and process guides, or point it at the website.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27248" y="3520440"/>
            <a:ext cx="237744" cy="0"/>
          </a:xfrm>
          <a:prstGeom prst="line">
            <a:avLst/>
          </a:prstGeom>
          <a:ln w="38100">
            <a:solidFill>
              <a:srgbClr val="1450F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383280" y="1737360"/>
            <a:ext cx="2560320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251960" y="2011680"/>
            <a:ext cx="822960" cy="822960"/>
          </a:xfrm>
          <a:prstGeom prst="ellipse">
            <a:avLst/>
          </a:prstGeom>
          <a:solidFill>
            <a:srgbClr val="224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6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3017520"/>
            <a:ext cx="256032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2200" b="1" i="0">
                <a:solidFill>
                  <a:srgbClr val="13234A"/>
                </a:solidFill>
                <a:latin typeface="Arial"/>
              </a:rPr>
              <a:t>Connect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3566160"/>
            <a:ext cx="2194560" cy="1645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350" b="0" i="0">
                <a:solidFill>
                  <a:srgbClr val="5B6478"/>
                </a:solidFill>
                <a:latin typeface="Arial"/>
              </a:rPr>
              <a:t>Link it to myKONE data: tenders, inspection reports and equipment.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61888" y="3520440"/>
            <a:ext cx="237744" cy="0"/>
          </a:xfrm>
          <a:prstGeom prst="line">
            <a:avLst/>
          </a:prstGeom>
          <a:ln w="38100">
            <a:solidFill>
              <a:srgbClr val="1450F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217920" y="1737360"/>
            <a:ext cx="2560320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86600" y="2011680"/>
            <a:ext cx="822960" cy="822960"/>
          </a:xfrm>
          <a:prstGeom prst="ellipse">
            <a:avLst/>
          </a:prstGeom>
          <a:solidFill>
            <a:srgbClr val="03A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6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017520"/>
            <a:ext cx="256032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2200" b="1" i="0">
                <a:solidFill>
                  <a:srgbClr val="13234A"/>
                </a:solidFill>
                <a:latin typeface="Arial"/>
              </a:rPr>
              <a:t>Embed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566160"/>
            <a:ext cx="2194560" cy="1645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350" b="0" i="0">
                <a:solidFill>
                  <a:srgbClr val="5B6478"/>
                </a:solidFill>
                <a:latin typeface="Arial"/>
              </a:rPr>
              <a:t>Add the chat widget to the portal once and it shows on every page.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796528" y="3520440"/>
            <a:ext cx="237744" cy="0"/>
          </a:xfrm>
          <a:prstGeom prst="line">
            <a:avLst/>
          </a:prstGeom>
          <a:ln w="38100">
            <a:solidFill>
              <a:srgbClr val="1450F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052560" y="1737360"/>
            <a:ext cx="2560320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921240" y="2011680"/>
            <a:ext cx="822960" cy="822960"/>
          </a:xfrm>
          <a:prstGeom prst="ellipse">
            <a:avLst/>
          </a:prstGeom>
          <a:solidFill>
            <a:srgbClr val="2EA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6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3017520"/>
            <a:ext cx="256032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2200" b="1" i="0">
                <a:solidFill>
                  <a:srgbClr val="13234A"/>
                </a:solidFill>
                <a:latin typeface="Arial"/>
              </a:rPr>
              <a:t>Assist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3566160"/>
            <a:ext cx="2194560" cy="1645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350" b="0" i="0">
                <a:solidFill>
                  <a:srgbClr val="5B6478"/>
                </a:solidFill>
                <a:latin typeface="Arial"/>
              </a:rPr>
              <a:t>Users ask, JarCube answers; anything complex goes to a specialist.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623560"/>
            <a:ext cx="11064240" cy="548640"/>
          </a:xfrm>
          <a:prstGeom prst="roundRect">
            <a:avLst>
              <a:gd name="adj" fmla="val 15000"/>
            </a:avLst>
          </a:prstGeom>
          <a:solidFill>
            <a:srgbClr val="E7ED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0" i="0">
                <a:solidFill>
                  <a:srgbClr val="13234A"/>
                </a:solidFill>
                <a:latin typeface="Arial"/>
              </a:rPr>
              <a:t>Ongoing: JarCube collects the questions it could not answer, so the team can teach it and it improves every week.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3000" b="1" i="0">
                <a:solidFill>
                  <a:srgbClr val="13234A"/>
                </a:solidFill>
                <a:latin typeface="Arial"/>
              </a:rPr>
              <a:t>Tomorrow: the new support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0584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600" b="0" i="0">
                <a:solidFill>
                  <a:srgbClr val="5B6478"/>
                </a:solidFill>
                <a:latin typeface="Arial"/>
              </a:rPr>
              <a:t>Most questions are answered on the spot; only real issues reach a specialist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274320"/>
            <a:ext cx="640080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5B6478"/>
                </a:solidFill>
                <a:latin typeface="Arial"/>
              </a:rPr>
              <a:t>JarCube AI Assistant  ×  myKONE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1000" b="0" i="0">
                <a:solidFill>
                  <a:srgbClr val="5B6478"/>
                </a:solidFill>
                <a:latin typeface="Arial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017520"/>
            <a:ext cx="1737360" cy="914400"/>
          </a:xfrm>
          <a:prstGeom prst="roundRect">
            <a:avLst>
              <a:gd name="adj" fmla="val 15000"/>
            </a:avLst>
          </a:prstGeom>
          <a:solidFill>
            <a:srgbClr val="132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👤  myKONE user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asks in chat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304288" y="3474720"/>
            <a:ext cx="530352" cy="0"/>
          </a:xfrm>
          <a:prstGeom prst="line">
            <a:avLst/>
          </a:prstGeom>
          <a:ln w="31750">
            <a:solidFill>
              <a:srgbClr val="1450F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880360" y="2788920"/>
            <a:ext cx="2103120" cy="1371600"/>
          </a:xfrm>
          <a:prstGeom prst="roundRect">
            <a:avLst>
              <a:gd name="adj" fmla="val 15000"/>
            </a:avLst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🤖  JarCube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understands the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question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5001768" y="1920240"/>
            <a:ext cx="804672" cy="1188720"/>
          </a:xfrm>
          <a:prstGeom prst="line">
            <a:avLst/>
          </a:prstGeom>
          <a:ln w="31750">
            <a:solidFill>
              <a:srgbClr val="2EAD5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001768" y="3474720"/>
            <a:ext cx="804672" cy="0"/>
          </a:xfrm>
          <a:prstGeom prst="line">
            <a:avLst/>
          </a:prstGeom>
          <a:ln w="31750">
            <a:solidFill>
              <a:srgbClr val="2EAD5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001768" y="3840480"/>
            <a:ext cx="804672" cy="1188720"/>
          </a:xfrm>
          <a:prstGeom prst="line">
            <a:avLst/>
          </a:prstGeom>
          <a:ln w="31750">
            <a:solidFill>
              <a:srgbClr val="FFAB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852160" y="1417320"/>
            <a:ext cx="2743200" cy="1005840"/>
          </a:xfrm>
          <a:prstGeom prst="roundRect">
            <a:avLst>
              <a:gd name="adj" fmla="val 15000"/>
            </a:avLst>
          </a:prstGeom>
          <a:solidFill>
            <a:srgbClr val="E6F6EC"/>
          </a:solidFill>
          <a:ln w="12700">
            <a:solidFill>
              <a:srgbClr val="2EA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 i="0">
                <a:solidFill>
                  <a:srgbClr val="13234A"/>
                </a:solidFill>
                <a:latin typeface="Arial"/>
              </a:rPr>
              <a:t>📚  General question</a:t>
            </a:r>
          </a:p>
          <a:p>
            <a:pPr algn="ctr"/>
            <a:r>
              <a:rPr sz="1250" b="1" i="0">
                <a:solidFill>
                  <a:srgbClr val="13234A"/>
                </a:solidFill>
                <a:latin typeface="Arial"/>
              </a:rPr>
              <a:t>answered from the</a:t>
            </a:r>
          </a:p>
          <a:p>
            <a:pPr algn="ctr"/>
            <a:r>
              <a:rPr sz="1250" b="1" i="0">
                <a:solidFill>
                  <a:srgbClr val="13234A"/>
                </a:solidFill>
                <a:latin typeface="Arial"/>
              </a:rPr>
              <a:t>knowledge base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52160" y="2971800"/>
            <a:ext cx="2743200" cy="1005840"/>
          </a:xfrm>
          <a:prstGeom prst="roundRect">
            <a:avLst>
              <a:gd name="adj" fmla="val 15000"/>
            </a:avLst>
          </a:prstGeom>
          <a:solidFill>
            <a:srgbClr val="E6F6EC"/>
          </a:solidFill>
          <a:ln w="12700">
            <a:solidFill>
              <a:srgbClr val="2EA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 i="0">
                <a:solidFill>
                  <a:srgbClr val="13234A"/>
                </a:solidFill>
                <a:latin typeface="Arial"/>
              </a:rPr>
              <a:t>🔐  Account question</a:t>
            </a:r>
          </a:p>
          <a:p>
            <a:pPr algn="ctr"/>
            <a:r>
              <a:rPr sz="1250" b="1" i="0">
                <a:solidFill>
                  <a:srgbClr val="13234A"/>
                </a:solidFill>
                <a:latin typeface="Arial"/>
              </a:rPr>
              <a:t>answered from the</a:t>
            </a:r>
          </a:p>
          <a:p>
            <a:pPr algn="ctr"/>
            <a:r>
              <a:rPr sz="1250" b="1" i="0">
                <a:solidFill>
                  <a:srgbClr val="13234A"/>
                </a:solidFill>
                <a:latin typeface="Arial"/>
              </a:rPr>
              <a:t>user’s own 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52160" y="4526280"/>
            <a:ext cx="2743200" cy="1005840"/>
          </a:xfrm>
          <a:prstGeom prst="roundRect">
            <a:avLst>
              <a:gd name="adj" fmla="val 15000"/>
            </a:avLst>
          </a:prstGeom>
          <a:solidFill>
            <a:srgbClr val="FFF6E0"/>
          </a:solidFill>
          <a:ln w="12700">
            <a:solidFill>
              <a:srgbClr val="FF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 i="0">
                <a:solidFill>
                  <a:srgbClr val="13234A"/>
                </a:solidFill>
                <a:latin typeface="Arial"/>
              </a:rPr>
              <a:t>🙋  Not sure / complex</a:t>
            </a:r>
          </a:p>
          <a:p>
            <a:pPr algn="ctr"/>
            <a:r>
              <a:rPr sz="1250" b="1" i="0">
                <a:solidFill>
                  <a:srgbClr val="13234A"/>
                </a:solidFill>
                <a:latin typeface="Arial"/>
              </a:rPr>
              <a:t>handed to a</a:t>
            </a:r>
          </a:p>
          <a:p>
            <a:pPr algn="ctr"/>
            <a:r>
              <a:rPr sz="1250" b="1" i="0">
                <a:solidFill>
                  <a:srgbClr val="13234A"/>
                </a:solidFill>
                <a:latin typeface="Arial"/>
              </a:rPr>
              <a:t>Tender Specialist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13648" y="1920240"/>
            <a:ext cx="667512" cy="0"/>
          </a:xfrm>
          <a:prstGeom prst="line">
            <a:avLst/>
          </a:prstGeom>
          <a:ln w="31750">
            <a:solidFill>
              <a:srgbClr val="2EAD5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613648" y="3474720"/>
            <a:ext cx="667512" cy="0"/>
          </a:xfrm>
          <a:prstGeom prst="line">
            <a:avLst/>
          </a:prstGeom>
          <a:ln w="31750">
            <a:solidFill>
              <a:srgbClr val="2EAD5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613648" y="5029200"/>
            <a:ext cx="667512" cy="0"/>
          </a:xfrm>
          <a:prstGeom prst="line">
            <a:avLst/>
          </a:prstGeom>
          <a:ln w="31750">
            <a:solidFill>
              <a:srgbClr val="FFAB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326880" y="1417320"/>
            <a:ext cx="2331720" cy="2560320"/>
          </a:xfrm>
          <a:prstGeom prst="roundRect">
            <a:avLst>
              <a:gd name="adj" fmla="val 15000"/>
            </a:avLst>
          </a:prstGeom>
          <a:solidFill>
            <a:srgbClr val="2EA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✅  Instant answer</a:t>
            </a:r>
          </a:p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/>
            </a:r>
          </a:p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in seconds,</a:t>
            </a:r>
          </a:p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24×7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26880" y="4526280"/>
            <a:ext cx="2331720" cy="1005840"/>
          </a:xfrm>
          <a:prstGeom prst="roundRect">
            <a:avLst>
              <a:gd name="adj" fmla="val 15000"/>
            </a:avLst>
          </a:prstGeom>
          <a:solidFill>
            <a:srgbClr val="FF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 i="0">
                <a:solidFill>
                  <a:srgbClr val="13234A"/>
                </a:solidFill>
                <a:latin typeface="Arial"/>
              </a:rPr>
              <a:t>🎫  Ticket created</a:t>
            </a:r>
          </a:p>
          <a:p>
            <a:pPr algn="ctr"/>
            <a:r>
              <a:rPr sz="1250" b="1" i="0">
                <a:solidFill>
                  <a:srgbClr val="13234A"/>
                </a:solidFill>
                <a:latin typeface="Arial"/>
              </a:rPr>
              <a:t>with full chat history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1417320"/>
            <a:ext cx="4572000" cy="11887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5B6478"/>
                </a:solidFill>
                <a:latin typeface="Arial"/>
              </a:rPr>
              <a:t>No call, no email, no wait.</a:t>
            </a:r>
          </a:p>
          <a:p>
            <a:pPr algn="l"/>
            <a:r>
              <a:rPr sz="1300" b="0" i="0">
                <a:solidFill>
                  <a:srgbClr val="5B6478"/>
                </a:solidFill>
                <a:latin typeface="Arial"/>
              </a:rPr>
              <a:t>Specialists step in only where they add real value, and they already have the full context.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3000" b="1" i="0">
                <a:solidFill>
                  <a:srgbClr val="13234A"/>
                </a:solidFill>
                <a:latin typeface="Arial"/>
              </a:rPr>
              <a:t>Use case 1 · “Where is my tender?”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0584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600" b="0" i="0">
                <a:solidFill>
                  <a:srgbClr val="5B6478"/>
                </a:solidFill>
                <a:latin typeface="Arial"/>
              </a:rPr>
              <a:t>Customers check tender status themselves, without calling a specialist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274320"/>
            <a:ext cx="640080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5B6478"/>
                </a:solidFill>
                <a:latin typeface="Arial"/>
              </a:rPr>
              <a:t>JarCube AI Assistant  ×  myKONE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1000" b="0" i="0">
                <a:solidFill>
                  <a:srgbClr val="5B6478"/>
                </a:solidFill>
                <a:latin typeface="Arial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6583680" cy="4754880"/>
          </a:xfrm>
          <a:prstGeom prst="roundRect">
            <a:avLst>
              <a:gd name="adj" fmla="val 2000"/>
            </a:avLst>
          </a:prstGeom>
          <a:solidFill>
            <a:srgbClr val="F5F8FF"/>
          </a:solidFill>
          <a:ln w="12700">
            <a:solidFill>
              <a:srgbClr val="C9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63040"/>
            <a:ext cx="6583680" cy="502920"/>
          </a:xfrm>
          <a:prstGeom prst="rect">
            <a:avLst/>
          </a:prstGeom>
          <a:solidFill>
            <a:srgbClr val="132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kone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591056"/>
            <a:ext cx="822960" cy="3305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1572768"/>
            <a:ext cx="1005840" cy="30175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DAE4FF"/>
                </a:solidFill>
                <a:latin typeface="Arial"/>
              </a:rPr>
              <a:t>Home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1572768"/>
            <a:ext cx="1005840" cy="30175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DAE4FF"/>
                </a:solidFill>
                <a:latin typeface="Arial"/>
              </a:rPr>
              <a:t>Equipment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1572768"/>
            <a:ext cx="1005840" cy="30175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Tenders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05072" y="1901952"/>
            <a:ext cx="731520" cy="45720"/>
          </a:xfrm>
          <a:prstGeom prst="rect">
            <a:avLst/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83479" y="1572768"/>
            <a:ext cx="1005840" cy="30175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DAE4FF"/>
                </a:solidFill>
                <a:latin typeface="Arial"/>
              </a:rPr>
              <a:t>Reports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1572768"/>
            <a:ext cx="1005840" cy="30175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DAE4FF"/>
                </a:solidFill>
                <a:latin typeface="Arial"/>
              </a:rPr>
              <a:t>Invoices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2103120"/>
            <a:ext cx="36576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13234A"/>
                </a:solidFill>
                <a:latin typeface="Arial"/>
              </a:rPr>
              <a:t>My tenders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2560320"/>
            <a:ext cx="6126480" cy="384048"/>
          </a:xfrm>
          <a:prstGeom prst="rect">
            <a:avLst/>
          </a:prstGeom>
          <a:solidFill>
            <a:srgbClr val="E7ED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2587752"/>
            <a:ext cx="2286000" cy="32918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3234A"/>
                </a:solidFill>
                <a:latin typeface="Arial"/>
              </a:rPr>
              <a:t>Tender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48839" y="2587752"/>
            <a:ext cx="2286000" cy="32918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3234A"/>
                </a:solidFill>
                <a:latin typeface="Arial"/>
              </a:rPr>
              <a:t>Project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2587752"/>
            <a:ext cx="2286000" cy="32918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3234A"/>
                </a:solidFill>
                <a:latin typeface="Arial"/>
              </a:rPr>
              <a:t>Status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2990088"/>
            <a:ext cx="612648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081528"/>
            <a:ext cx="1280160" cy="32918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450F5"/>
                </a:solidFill>
                <a:latin typeface="Arial"/>
              </a:rPr>
              <a:t>TND-2041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48840" y="3081528"/>
            <a:ext cx="2743200" cy="32918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  <a:latin typeface="Arial"/>
              </a:rPr>
              <a:t>Modernisation – Tower 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46320" y="3081528"/>
            <a:ext cx="1920240" cy="320040"/>
          </a:xfrm>
          <a:prstGeom prst="roundRect">
            <a:avLst>
              <a:gd name="adj" fmla="val 15000"/>
            </a:avLst>
          </a:prstGeom>
          <a:solidFill>
            <a:srgbClr val="FF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13234A"/>
                </a:solidFill>
                <a:latin typeface="Arial"/>
              </a:rPr>
              <a:t>In review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3538728"/>
            <a:ext cx="612648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3630168"/>
            <a:ext cx="1280160" cy="32918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450F5"/>
                </a:solidFill>
                <a:latin typeface="Arial"/>
              </a:rPr>
              <a:t>TND-2037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48840" y="3630168"/>
            <a:ext cx="2743200" cy="32918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  <a:latin typeface="Arial"/>
              </a:rPr>
              <a:t>Service contract renewal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846320" y="3630168"/>
            <a:ext cx="1920240" cy="320040"/>
          </a:xfrm>
          <a:prstGeom prst="roundRect">
            <a:avLst>
              <a:gd name="adj" fmla="val 15000"/>
            </a:avLst>
          </a:prstGeom>
          <a:solidFill>
            <a:srgbClr val="2EA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FFFFFF"/>
                </a:solidFill>
                <a:latin typeface="Arial"/>
              </a:rPr>
              <a:t>Approved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087368"/>
            <a:ext cx="612648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4178807"/>
            <a:ext cx="1280160" cy="32918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450F5"/>
                </a:solidFill>
                <a:latin typeface="Arial"/>
              </a:rPr>
              <a:t>TND-2029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48840" y="4178807"/>
            <a:ext cx="2743200" cy="32918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  <a:latin typeface="Arial"/>
              </a:rPr>
              <a:t>Escalator repair – Mall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846320" y="4178807"/>
            <a:ext cx="1920240" cy="320040"/>
          </a:xfrm>
          <a:prstGeom prst="roundRect">
            <a:avLst>
              <a:gd name="adj" fmla="val 15000"/>
            </a:avLst>
          </a:prstGeom>
          <a:solidFill>
            <a:srgbClr val="E539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FFFFFF"/>
                </a:solidFill>
                <a:latin typeface="Arial"/>
              </a:rPr>
              <a:t>Awaiting customer info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36008"/>
            <a:ext cx="612648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4727448"/>
            <a:ext cx="1280160" cy="32918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450F5"/>
                </a:solidFill>
                <a:latin typeface="Arial"/>
              </a:rPr>
              <a:t>TND-2018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48840" y="4727448"/>
            <a:ext cx="2743200" cy="32918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  <a:latin typeface="Arial"/>
              </a:rPr>
              <a:t>New elevators – Block C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846320" y="4727448"/>
            <a:ext cx="1920240" cy="320040"/>
          </a:xfrm>
          <a:prstGeom prst="roundRect">
            <a:avLst>
              <a:gd name="adj" fmla="val 15000"/>
            </a:avLst>
          </a:prstGeom>
          <a:solidFill>
            <a:srgbClr val="03A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FFFFFF"/>
                </a:solidFill>
                <a:latin typeface="Arial"/>
              </a:rPr>
              <a:t>Submitted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5806440"/>
            <a:ext cx="612648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0" i="1">
                <a:solidFill>
                  <a:srgbClr val="5B6478"/>
                </a:solidFill>
                <a:latin typeface="Arial"/>
              </a:rPr>
              <a:t>Illustrative mock-up · sample data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543800" y="1344168"/>
            <a:ext cx="4160520" cy="4983480"/>
          </a:xfrm>
          <a:prstGeom prst="roundRect">
            <a:avLst>
              <a:gd name="adj" fmla="val 5000"/>
            </a:avLst>
          </a:prstGeom>
          <a:solidFill>
            <a:srgbClr val="C9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498079" y="1280160"/>
            <a:ext cx="4160520" cy="4983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498079" y="1280160"/>
            <a:ext cx="4160520" cy="685800"/>
          </a:xfrm>
          <a:prstGeom prst="roundRect">
            <a:avLst>
              <a:gd name="adj" fmla="val 20000"/>
            </a:avLst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498079" y="1691639"/>
            <a:ext cx="4160520" cy="274320"/>
          </a:xfrm>
          <a:prstGeom prst="rect">
            <a:avLst/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widget-rob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7807" y="1371600"/>
            <a:ext cx="566928" cy="484632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8229600" y="1353312"/>
            <a:ext cx="324612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myKONE Assistant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0" y="1627631"/>
            <a:ext cx="324612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DAE4FF"/>
                </a:solidFill>
                <a:latin typeface="Arial"/>
              </a:rPr>
              <a:t>● Online · powered by JarCube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276234" y="2103120"/>
            <a:ext cx="3245205" cy="502920"/>
          </a:xfrm>
          <a:prstGeom prst="roundRect">
            <a:avLst>
              <a:gd name="adj" fmla="val 25000"/>
            </a:avLst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00" b="0" i="0">
                <a:solidFill>
                  <a:srgbClr val="FFFFFF"/>
                </a:solidFill>
                <a:latin typeface="Arial"/>
              </a:rPr>
              <a:t>What is the status of my tender for Tower A?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635240" y="2715768"/>
            <a:ext cx="3245205" cy="1051560"/>
          </a:xfrm>
          <a:prstGeom prst="roundRect">
            <a:avLst>
              <a:gd name="adj" fmla="val 25000"/>
            </a:avLst>
          </a:prstGeom>
          <a:solidFill>
            <a:srgbClr val="E7ED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00" b="0" i="0">
                <a:solidFill>
                  <a:srgbClr val="141414"/>
                </a:solidFill>
                <a:latin typeface="Arial"/>
              </a:rPr>
              <a:t>TND-2041 (Modernisation – Tower A) has been In review with the KONE tender team since 28 Sep. Next step: price approval, usually 3–5 working days.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276234" y="3877056"/>
            <a:ext cx="3245205" cy="411480"/>
          </a:xfrm>
          <a:prstGeom prst="roundRect">
            <a:avLst>
              <a:gd name="adj" fmla="val 25000"/>
            </a:avLst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00" b="0" i="0">
                <a:solidFill>
                  <a:srgbClr val="FFFFFF"/>
                </a:solidFill>
                <a:latin typeface="Arial"/>
              </a:rPr>
              <a:t>Do you need anything from me?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635240" y="4398264"/>
            <a:ext cx="3245205" cy="868680"/>
          </a:xfrm>
          <a:prstGeom prst="roundRect">
            <a:avLst>
              <a:gd name="adj" fmla="val 25000"/>
            </a:avLst>
          </a:prstGeom>
          <a:solidFill>
            <a:srgbClr val="E7ED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00" b="0" i="0">
                <a:solidFill>
                  <a:srgbClr val="141414"/>
                </a:solidFill>
                <a:latin typeface="Arial"/>
              </a:rPr>
              <a:t>Not for this one. But TND-2029 is waiting for your site contact details. Shall I open that form for you?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635240" y="5715000"/>
            <a:ext cx="3886200" cy="411480"/>
          </a:xfrm>
          <a:prstGeom prst="roundRect">
            <a:avLst>
              <a:gd name="adj" fmla="val 50000"/>
            </a:avLst>
          </a:prstGeom>
          <a:solidFill>
            <a:srgbClr val="F5F8FF"/>
          </a:solidFill>
          <a:ln w="12700">
            <a:solidFill>
              <a:srgbClr val="C9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726679" y="5742431"/>
            <a:ext cx="324612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 i="0">
                <a:solidFill>
                  <a:srgbClr val="5B6478"/>
                </a:solidFill>
                <a:latin typeface="Arial"/>
              </a:rPr>
              <a:t>Type your question…</a:t>
            </a:r>
          </a:p>
        </p:txBody>
      </p:sp>
      <p:sp>
        <p:nvSpPr>
          <p:cNvPr id="52" name="Oval 51"/>
          <p:cNvSpPr/>
          <p:nvPr/>
        </p:nvSpPr>
        <p:spPr>
          <a:xfrm>
            <a:off x="11109960" y="5751575"/>
            <a:ext cx="338328" cy="338328"/>
          </a:xfrm>
          <a:prstGeom prst="ellipse">
            <a:avLst/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3000" b="1" i="0">
                <a:solidFill>
                  <a:srgbClr val="13234A"/>
                </a:solidFill>
                <a:latin typeface="Arial"/>
              </a:rPr>
              <a:t>Use case 2 · Understanding 3PI inspection reports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0584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600" b="0" i="0">
                <a:solidFill>
                  <a:srgbClr val="5B6478"/>
                </a:solidFill>
                <a:latin typeface="Arial"/>
              </a:rPr>
              <a:t>Plain-language explanations of findings, severity and next steps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274320"/>
            <a:ext cx="640080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5B6478"/>
                </a:solidFill>
                <a:latin typeface="Arial"/>
              </a:rPr>
              <a:t>JarCube AI Assistant  ×  myKONE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1000" b="0" i="0">
                <a:solidFill>
                  <a:srgbClr val="5B6478"/>
                </a:solidFill>
                <a:latin typeface="Arial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6583680" cy="4754880"/>
          </a:xfrm>
          <a:prstGeom prst="roundRect">
            <a:avLst>
              <a:gd name="adj" fmla="val 2000"/>
            </a:avLst>
          </a:prstGeom>
          <a:solidFill>
            <a:srgbClr val="F5F8FF"/>
          </a:solidFill>
          <a:ln w="12700">
            <a:solidFill>
              <a:srgbClr val="C9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63040"/>
            <a:ext cx="6583680" cy="502920"/>
          </a:xfrm>
          <a:prstGeom prst="rect">
            <a:avLst/>
          </a:prstGeom>
          <a:solidFill>
            <a:srgbClr val="132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kone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591056"/>
            <a:ext cx="822960" cy="3305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1572768"/>
            <a:ext cx="1005840" cy="30175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DAE4FF"/>
                </a:solidFill>
                <a:latin typeface="Arial"/>
              </a:rPr>
              <a:t>Home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1572768"/>
            <a:ext cx="1005840" cy="30175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DAE4FF"/>
                </a:solidFill>
                <a:latin typeface="Arial"/>
              </a:rPr>
              <a:t>Equipment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1572768"/>
            <a:ext cx="1005840" cy="30175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DAE4FF"/>
                </a:solidFill>
                <a:latin typeface="Arial"/>
              </a:rPr>
              <a:t>Tenders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79" y="1572768"/>
            <a:ext cx="1005840" cy="30175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Reports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56631" y="1901952"/>
            <a:ext cx="731520" cy="45720"/>
          </a:xfrm>
          <a:prstGeom prst="rect">
            <a:avLst/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0" y="1572768"/>
            <a:ext cx="1005840" cy="30175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DAE4FF"/>
                </a:solidFill>
                <a:latin typeface="Arial"/>
              </a:rPr>
              <a:t>Invoices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2103120"/>
            <a:ext cx="621792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3234A"/>
                </a:solidFill>
                <a:latin typeface="Arial"/>
              </a:rPr>
              <a:t>Inspection report · Elevator E-03 · Third-party inspector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2606040"/>
            <a:ext cx="612648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3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2679192"/>
            <a:ext cx="91440" cy="512064"/>
          </a:xfrm>
          <a:prstGeom prst="rect">
            <a:avLst/>
          </a:prstGeom>
          <a:solidFill>
            <a:srgbClr val="E539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2761488"/>
            <a:ext cx="73152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13234A"/>
                </a:solidFill>
                <a:latin typeface="Arial"/>
              </a:rPr>
              <a:t>A-12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2761488"/>
            <a:ext cx="338328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141414"/>
                </a:solidFill>
                <a:latin typeface="Arial"/>
              </a:rPr>
              <a:t>Car door safety contact worn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66360" y="2770632"/>
            <a:ext cx="1554480" cy="329184"/>
          </a:xfrm>
          <a:prstGeom prst="roundRect">
            <a:avLst>
              <a:gd name="adj" fmla="val 15000"/>
            </a:avLst>
          </a:prstGeom>
          <a:solidFill>
            <a:srgbClr val="E539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Hazardous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3383280"/>
            <a:ext cx="612648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3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7240" y="3456432"/>
            <a:ext cx="91440" cy="512064"/>
          </a:xfrm>
          <a:prstGeom prst="rect">
            <a:avLst/>
          </a:prstGeom>
          <a:solidFill>
            <a:srgbClr val="FF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3538728"/>
            <a:ext cx="73152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13234A"/>
                </a:solidFill>
                <a:latin typeface="Arial"/>
              </a:rPr>
              <a:t>B-07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91640" y="3538728"/>
            <a:ext cx="338328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141414"/>
                </a:solidFill>
                <a:latin typeface="Arial"/>
              </a:rPr>
              <a:t>Pit lighting below required level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66360" y="3547872"/>
            <a:ext cx="1554480" cy="329184"/>
          </a:xfrm>
          <a:prstGeom prst="roundRect">
            <a:avLst>
              <a:gd name="adj" fmla="val 15000"/>
            </a:avLst>
          </a:prstGeom>
          <a:solidFill>
            <a:srgbClr val="FF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 i="0">
                <a:solidFill>
                  <a:srgbClr val="13234A"/>
                </a:solidFill>
                <a:latin typeface="Arial"/>
              </a:rPr>
              <a:t>Needs action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4160520"/>
            <a:ext cx="612648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3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7240" y="4233672"/>
            <a:ext cx="91440" cy="512064"/>
          </a:xfrm>
          <a:prstGeom prst="rect">
            <a:avLst/>
          </a:prstGeom>
          <a:solidFill>
            <a:srgbClr val="03A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4315968"/>
            <a:ext cx="73152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13234A"/>
                </a:solidFill>
                <a:latin typeface="Arial"/>
              </a:rPr>
              <a:t>C-03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91640" y="4315968"/>
            <a:ext cx="338328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141414"/>
                </a:solidFill>
                <a:latin typeface="Arial"/>
              </a:rPr>
              <a:t>Machine room labelling missing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166360" y="4325112"/>
            <a:ext cx="1554480" cy="329184"/>
          </a:xfrm>
          <a:prstGeom prst="roundRect">
            <a:avLst>
              <a:gd name="adj" fmla="val 15000"/>
            </a:avLst>
          </a:prstGeom>
          <a:solidFill>
            <a:srgbClr val="03A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Minor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" y="5074920"/>
            <a:ext cx="2743200" cy="457200"/>
          </a:xfrm>
          <a:prstGeom prst="roundRect">
            <a:avLst>
              <a:gd name="adj" fmla="val 15000"/>
            </a:avLst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💬  Explain this report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5806440"/>
            <a:ext cx="612648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0" i="1">
                <a:solidFill>
                  <a:srgbClr val="5B6478"/>
                </a:solidFill>
                <a:latin typeface="Arial"/>
              </a:rPr>
              <a:t>Illustrative mock-up · sample data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543800" y="1344168"/>
            <a:ext cx="4160520" cy="4983480"/>
          </a:xfrm>
          <a:prstGeom prst="roundRect">
            <a:avLst>
              <a:gd name="adj" fmla="val 5000"/>
            </a:avLst>
          </a:prstGeom>
          <a:solidFill>
            <a:srgbClr val="C9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498079" y="1280160"/>
            <a:ext cx="4160520" cy="4983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498079" y="1280160"/>
            <a:ext cx="4160520" cy="685800"/>
          </a:xfrm>
          <a:prstGeom prst="roundRect">
            <a:avLst>
              <a:gd name="adj" fmla="val 20000"/>
            </a:avLst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498079" y="1691639"/>
            <a:ext cx="4160520" cy="274320"/>
          </a:xfrm>
          <a:prstGeom prst="rect">
            <a:avLst/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widget-rob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7807" y="1371600"/>
            <a:ext cx="566928" cy="484632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229600" y="1353312"/>
            <a:ext cx="324612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myKONE Assistant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1627631"/>
            <a:ext cx="324612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DAE4FF"/>
                </a:solidFill>
                <a:latin typeface="Arial"/>
              </a:rPr>
              <a:t>● Online · powered by JarCube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76234" y="2103120"/>
            <a:ext cx="3245205" cy="502920"/>
          </a:xfrm>
          <a:prstGeom prst="roundRect">
            <a:avLst>
              <a:gd name="adj" fmla="val 25000"/>
            </a:avLst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00" b="0" i="0">
                <a:solidFill>
                  <a:srgbClr val="FFFFFF"/>
                </a:solidFill>
                <a:latin typeface="Arial"/>
              </a:rPr>
              <a:t>Explain my latest inspection report in simple words.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635240" y="2715768"/>
            <a:ext cx="3245205" cy="1143000"/>
          </a:xfrm>
          <a:prstGeom prst="roundRect">
            <a:avLst>
              <a:gd name="adj" fmla="val 25000"/>
            </a:avLst>
          </a:prstGeom>
          <a:solidFill>
            <a:srgbClr val="E7ED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00" b="0" i="0">
                <a:solidFill>
                  <a:srgbClr val="141414"/>
                </a:solidFill>
                <a:latin typeface="Arial"/>
              </a:rPr>
              <a:t>There are 3 findings on E-03. One is urgent: A-12, a worn door safety contact, which should be fixed before the next inspection. B-07 and C-03 are smaller fixes.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276234" y="3968496"/>
            <a:ext cx="3245205" cy="365760"/>
          </a:xfrm>
          <a:prstGeom prst="roundRect">
            <a:avLst>
              <a:gd name="adj" fmla="val 25000"/>
            </a:avLst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00" b="0" i="0">
                <a:solidFill>
                  <a:srgbClr val="FFFFFF"/>
                </a:solidFill>
                <a:latin typeface="Arial"/>
              </a:rPr>
              <a:t>Can KONE fix these?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635240" y="4443983"/>
            <a:ext cx="3245205" cy="731520"/>
          </a:xfrm>
          <a:prstGeom prst="roundRect">
            <a:avLst>
              <a:gd name="adj" fmla="val 25000"/>
            </a:avLst>
          </a:prstGeom>
          <a:solidFill>
            <a:srgbClr val="E7ED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00" b="0" i="0">
                <a:solidFill>
                  <a:srgbClr val="141414"/>
                </a:solidFill>
                <a:latin typeface="Arial"/>
              </a:rPr>
              <a:t>Yes. I can request a repair quote for all 3 findings and share it with your tender specialist.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635240" y="5715000"/>
            <a:ext cx="3886200" cy="411480"/>
          </a:xfrm>
          <a:prstGeom prst="roundRect">
            <a:avLst>
              <a:gd name="adj" fmla="val 50000"/>
            </a:avLst>
          </a:prstGeom>
          <a:solidFill>
            <a:srgbClr val="F5F8FF"/>
          </a:solidFill>
          <a:ln w="12700">
            <a:solidFill>
              <a:srgbClr val="C9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26679" y="5742431"/>
            <a:ext cx="324612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 i="0">
                <a:solidFill>
                  <a:srgbClr val="5B6478"/>
                </a:solidFill>
                <a:latin typeface="Arial"/>
              </a:rPr>
              <a:t>Type your question…</a:t>
            </a:r>
          </a:p>
        </p:txBody>
      </p:sp>
      <p:sp>
        <p:nvSpPr>
          <p:cNvPr id="48" name="Oval 47"/>
          <p:cNvSpPr/>
          <p:nvPr/>
        </p:nvSpPr>
        <p:spPr>
          <a:xfrm>
            <a:off x="11109960" y="5751575"/>
            <a:ext cx="338328" cy="338328"/>
          </a:xfrm>
          <a:prstGeom prst="ellipse">
            <a:avLst/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3000" b="1" i="0">
                <a:solidFill>
                  <a:srgbClr val="13234A"/>
                </a:solidFill>
                <a:latin typeface="Arial"/>
              </a:rPr>
              <a:t>Use case 3 · Built into the Equipment 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0584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600" b="0" i="0">
                <a:solidFill>
                  <a:srgbClr val="5B6478"/>
                </a:solidFill>
                <a:latin typeface="Arial"/>
              </a:rPr>
              <a:t>The assistant knows which equipment the user is viewing, so there are no IDs to type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274320"/>
            <a:ext cx="640080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5B6478"/>
                </a:solidFill>
                <a:latin typeface="Arial"/>
              </a:rPr>
              <a:t>JarCube AI Assistant  ×  myKONE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1000" b="0" i="0">
                <a:solidFill>
                  <a:srgbClr val="5B6478"/>
                </a:solidFill>
                <a:latin typeface="Arial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6583680" cy="4754880"/>
          </a:xfrm>
          <a:prstGeom prst="roundRect">
            <a:avLst>
              <a:gd name="adj" fmla="val 2000"/>
            </a:avLst>
          </a:prstGeom>
          <a:solidFill>
            <a:srgbClr val="F5F8FF"/>
          </a:solidFill>
          <a:ln w="12700">
            <a:solidFill>
              <a:srgbClr val="C9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63040"/>
            <a:ext cx="6583680" cy="502920"/>
          </a:xfrm>
          <a:prstGeom prst="rect">
            <a:avLst/>
          </a:prstGeom>
          <a:solidFill>
            <a:srgbClr val="132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kone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591056"/>
            <a:ext cx="822960" cy="3305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1572768"/>
            <a:ext cx="1005840" cy="30175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DAE4FF"/>
                </a:solidFill>
                <a:latin typeface="Arial"/>
              </a:rPr>
              <a:t>Home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1572768"/>
            <a:ext cx="1005840" cy="30175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Equipment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53512" y="1901952"/>
            <a:ext cx="731520" cy="45720"/>
          </a:xfrm>
          <a:prstGeom prst="rect">
            <a:avLst/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0" y="1572768"/>
            <a:ext cx="1005840" cy="30175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DAE4FF"/>
                </a:solidFill>
                <a:latin typeface="Arial"/>
              </a:rPr>
              <a:t>Tenders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79" y="1572768"/>
            <a:ext cx="1005840" cy="30175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DAE4FF"/>
                </a:solidFill>
                <a:latin typeface="Arial"/>
              </a:rPr>
              <a:t>Reports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1572768"/>
            <a:ext cx="1005840" cy="30175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DAE4FF"/>
                </a:solidFill>
                <a:latin typeface="Arial"/>
              </a:rPr>
              <a:t>Invoices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2103120"/>
            <a:ext cx="54864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13234A"/>
                </a:solidFill>
                <a:latin typeface="Arial"/>
              </a:rPr>
              <a:t>Elevator E-03 · Tower A, main lobby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2606040"/>
            <a:ext cx="2926080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3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2715768"/>
            <a:ext cx="265176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5B6478"/>
                </a:solidFill>
                <a:latin typeface="Arial"/>
              </a:rPr>
              <a:t>Health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017520"/>
            <a:ext cx="2651760" cy="502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200" b="1" i="0">
                <a:solidFill>
                  <a:srgbClr val="2EAD5B"/>
                </a:solidFill>
                <a:latin typeface="Arial"/>
              </a:rPr>
              <a:t>Good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86200" y="2606040"/>
            <a:ext cx="2926080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3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23360" y="2715768"/>
            <a:ext cx="265176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5B6478"/>
                </a:solidFill>
                <a:latin typeface="Arial"/>
              </a:rPr>
              <a:t>Availability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0" y="3017520"/>
            <a:ext cx="2651760" cy="502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200" b="1" i="0">
                <a:solidFill>
                  <a:srgbClr val="1450F5"/>
                </a:solidFill>
                <a:latin typeface="Arial"/>
              </a:rPr>
              <a:t>99.2 %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3794760"/>
            <a:ext cx="2926080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3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904488"/>
            <a:ext cx="265176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5B6478"/>
                </a:solidFill>
                <a:latin typeface="Arial"/>
              </a:rPr>
              <a:t>Open work orders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206240"/>
            <a:ext cx="2651760" cy="502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200" b="1" i="0">
                <a:solidFill>
                  <a:srgbClr val="FFAB00"/>
                </a:solidFill>
                <a:latin typeface="Arial"/>
              </a:rPr>
              <a:t>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886200" y="3794760"/>
            <a:ext cx="2926080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3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23360" y="3904488"/>
            <a:ext cx="265176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5B6478"/>
                </a:solidFill>
                <a:latin typeface="Arial"/>
              </a:rPr>
              <a:t>Next visit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23360" y="4206240"/>
            <a:ext cx="2651760" cy="502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200" b="1" i="0">
                <a:solidFill>
                  <a:srgbClr val="13234A"/>
                </a:solidFill>
                <a:latin typeface="Arial"/>
              </a:rPr>
              <a:t>14 Oct</a:t>
            </a:r>
          </a:p>
        </p:txBody>
      </p:sp>
      <p:pic>
        <p:nvPicPr>
          <p:cNvPr id="30" name="Picture 29" descr="s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4937760"/>
            <a:ext cx="731520" cy="1021556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77240" y="5806440"/>
            <a:ext cx="502920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0" i="1">
                <a:solidFill>
                  <a:srgbClr val="5B6478"/>
                </a:solidFill>
                <a:latin typeface="Arial"/>
              </a:rPr>
              <a:t>Illustrative mock-up · sample data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43800" y="1344168"/>
            <a:ext cx="4160520" cy="4983480"/>
          </a:xfrm>
          <a:prstGeom prst="roundRect">
            <a:avLst>
              <a:gd name="adj" fmla="val 5000"/>
            </a:avLst>
          </a:prstGeom>
          <a:solidFill>
            <a:srgbClr val="C9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498079" y="1280160"/>
            <a:ext cx="4160520" cy="4983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498079" y="1280160"/>
            <a:ext cx="4160520" cy="685800"/>
          </a:xfrm>
          <a:prstGeom prst="roundRect">
            <a:avLst>
              <a:gd name="adj" fmla="val 20000"/>
            </a:avLst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498079" y="1691639"/>
            <a:ext cx="4160520" cy="274320"/>
          </a:xfrm>
          <a:prstGeom prst="rect">
            <a:avLst/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widget-robo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7807" y="1371600"/>
            <a:ext cx="566928" cy="484632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229600" y="1353312"/>
            <a:ext cx="324612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myKONE Assistant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1627631"/>
            <a:ext cx="324612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DAE4FF"/>
                </a:solidFill>
                <a:latin typeface="Arial"/>
              </a:rPr>
              <a:t>● Online · powered by JarCube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76234" y="2103120"/>
            <a:ext cx="3245205" cy="502920"/>
          </a:xfrm>
          <a:prstGeom prst="roundRect">
            <a:avLst>
              <a:gd name="adj" fmla="val 25000"/>
            </a:avLst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00" b="0" i="0">
                <a:solidFill>
                  <a:srgbClr val="FFFFFF"/>
                </a:solidFill>
                <a:latin typeface="Arial"/>
              </a:rPr>
              <a:t>Why was this elevator out of service last week?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635240" y="2715768"/>
            <a:ext cx="3245205" cy="1005840"/>
          </a:xfrm>
          <a:prstGeom prst="roundRect">
            <a:avLst>
              <a:gd name="adj" fmla="val 25000"/>
            </a:avLst>
          </a:prstGeom>
          <a:solidFill>
            <a:srgbClr val="E7ED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00" b="0" i="0">
                <a:solidFill>
                  <a:srgbClr val="141414"/>
                </a:solidFill>
                <a:latin typeface="Arial"/>
              </a:rPr>
              <a:t>E-03 was stopped for 3 hours on 29 Sep for a door-operator repair (work order WO-5512). It has been running normally since.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76234" y="3831335"/>
            <a:ext cx="3245205" cy="365760"/>
          </a:xfrm>
          <a:prstGeom prst="roundRect">
            <a:avLst>
              <a:gd name="adj" fmla="val 25000"/>
            </a:avLst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00" b="0" i="0">
                <a:solidFill>
                  <a:srgbClr val="FFFFFF"/>
                </a:solidFill>
                <a:latin typeface="Arial"/>
              </a:rPr>
              <a:t>When is the next maintenance?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635240" y="4306823"/>
            <a:ext cx="3245205" cy="731520"/>
          </a:xfrm>
          <a:prstGeom prst="roundRect">
            <a:avLst>
              <a:gd name="adj" fmla="val 25000"/>
            </a:avLst>
          </a:prstGeom>
          <a:solidFill>
            <a:srgbClr val="E7ED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00" b="0" i="0">
                <a:solidFill>
                  <a:srgbClr val="141414"/>
                </a:solidFill>
                <a:latin typeface="Arial"/>
              </a:rPr>
              <a:t>A visit is planned for 14 Oct, 09:00–11:00. Do you want me to add it to your calendar?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635240" y="5715000"/>
            <a:ext cx="3886200" cy="411480"/>
          </a:xfrm>
          <a:prstGeom prst="roundRect">
            <a:avLst>
              <a:gd name="adj" fmla="val 50000"/>
            </a:avLst>
          </a:prstGeom>
          <a:solidFill>
            <a:srgbClr val="F5F8FF"/>
          </a:solidFill>
          <a:ln w="12700">
            <a:solidFill>
              <a:srgbClr val="C9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26679" y="5742431"/>
            <a:ext cx="324612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 i="0">
                <a:solidFill>
                  <a:srgbClr val="5B6478"/>
                </a:solidFill>
                <a:latin typeface="Arial"/>
              </a:rPr>
              <a:t>Type your question…</a:t>
            </a:r>
          </a:p>
        </p:txBody>
      </p:sp>
      <p:sp>
        <p:nvSpPr>
          <p:cNvPr id="45" name="Oval 44"/>
          <p:cNvSpPr/>
          <p:nvPr/>
        </p:nvSpPr>
        <p:spPr>
          <a:xfrm>
            <a:off x="11109960" y="5751575"/>
            <a:ext cx="338328" cy="338328"/>
          </a:xfrm>
          <a:prstGeom prst="ellipse">
            <a:avLst/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3000" b="1" i="0">
                <a:solidFill>
                  <a:srgbClr val="13234A"/>
                </a:solidFill>
                <a:latin typeface="Arial"/>
              </a:rPr>
              <a:t>Use case 4 · Quick questions, answered on the spot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0584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600" b="0" i="0">
                <a:solidFill>
                  <a:srgbClr val="5B6478"/>
                </a:solidFill>
                <a:latin typeface="Arial"/>
              </a:rPr>
              <a:t>Questions that users email about today get an instant answer instead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274320"/>
            <a:ext cx="640080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5B6478"/>
                </a:solidFill>
                <a:latin typeface="Arial"/>
              </a:rPr>
              <a:t>JarCube AI Assistant  ×  myKONE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1000" b="0" i="0">
                <a:solidFill>
                  <a:srgbClr val="5B6478"/>
                </a:solidFill>
                <a:latin typeface="Arial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08760"/>
            <a:ext cx="5394960" cy="914400"/>
          </a:xfrm>
          <a:prstGeom prst="roundRect">
            <a:avLst>
              <a:gd name="adj" fmla="val 15000"/>
            </a:avLst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00200"/>
            <a:ext cx="548640" cy="7315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000" b="0" i="0">
                <a:solidFill>
                  <a:srgbClr val="1450F5"/>
                </a:solidFill>
                <a:latin typeface="Arial"/>
              </a:rPr>
              <a:t>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600200"/>
            <a:ext cx="3291840" cy="7315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50" b="1" i="0">
                <a:solidFill>
                  <a:srgbClr val="13234A"/>
                </a:solidFill>
                <a:latin typeface="Arial"/>
              </a:rPr>
              <a:t>How do I add a new user to my company account?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17720" y="1783080"/>
            <a:ext cx="118872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1450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1450F5"/>
                </a:solidFill>
                <a:latin typeface="Arial"/>
              </a:rPr>
              <a:t>Portal how-to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508760"/>
            <a:ext cx="5394960" cy="914400"/>
          </a:xfrm>
          <a:prstGeom prst="roundRect">
            <a:avLst>
              <a:gd name="adj" fmla="val 15000"/>
            </a:avLst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600200"/>
            <a:ext cx="548640" cy="7315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000" b="0" i="0">
                <a:solidFill>
                  <a:srgbClr val="1450F5"/>
                </a:solidFill>
                <a:latin typeface="Arial"/>
              </a:rPr>
              <a:t>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1600200"/>
            <a:ext cx="3291840" cy="7315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50" b="1" i="0">
                <a:solidFill>
                  <a:srgbClr val="13234A"/>
                </a:solidFill>
                <a:latin typeface="Arial"/>
              </a:rPr>
              <a:t>Which documents do I need to submit a tender?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87000" y="1783080"/>
            <a:ext cx="118872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1450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1450F5"/>
                </a:solidFill>
                <a:latin typeface="Arial"/>
              </a:rPr>
              <a:t>Tender process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606039"/>
            <a:ext cx="5394960" cy="914400"/>
          </a:xfrm>
          <a:prstGeom prst="roundRect">
            <a:avLst>
              <a:gd name="adj" fmla="val 15000"/>
            </a:avLst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697479"/>
            <a:ext cx="548640" cy="7315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000" b="0" i="0">
                <a:solidFill>
                  <a:srgbClr val="1450F5"/>
                </a:solidFill>
                <a:latin typeface="Arial"/>
              </a:rPr>
              <a:t>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697479"/>
            <a:ext cx="3291840" cy="7315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50" b="1" i="0">
                <a:solidFill>
                  <a:srgbClr val="13234A"/>
                </a:solidFill>
                <a:latin typeface="Arial"/>
              </a:rPr>
              <a:t>Where can I download my September invoice?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17720" y="2880359"/>
            <a:ext cx="118872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1450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1450F5"/>
                </a:solidFill>
                <a:latin typeface="Arial"/>
              </a:rPr>
              <a:t>Invoices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606039"/>
            <a:ext cx="5394960" cy="914400"/>
          </a:xfrm>
          <a:prstGeom prst="roundRect">
            <a:avLst>
              <a:gd name="adj" fmla="val 15000"/>
            </a:avLst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2697479"/>
            <a:ext cx="548640" cy="7315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000" b="0" i="0">
                <a:solidFill>
                  <a:srgbClr val="1450F5"/>
                </a:solidFill>
                <a:latin typeface="Arial"/>
              </a:rPr>
              <a:t>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2697479"/>
            <a:ext cx="3291840" cy="7315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50" b="1" i="0">
                <a:solidFill>
                  <a:srgbClr val="13234A"/>
                </a:solidFill>
                <a:latin typeface="Arial"/>
              </a:rPr>
              <a:t>What does ‘Awaiting customer info’ mean?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287000" y="2880359"/>
            <a:ext cx="118872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1450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1450F5"/>
                </a:solidFill>
                <a:latin typeface="Arial"/>
              </a:rPr>
              <a:t>Status meaning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703320"/>
            <a:ext cx="5394960" cy="914400"/>
          </a:xfrm>
          <a:prstGeom prst="roundRect">
            <a:avLst>
              <a:gd name="adj" fmla="val 15000"/>
            </a:avLst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794759"/>
            <a:ext cx="548640" cy="7315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000" b="0" i="0">
                <a:solidFill>
                  <a:srgbClr val="1450F5"/>
                </a:solidFill>
                <a:latin typeface="Arial"/>
              </a:rPr>
              <a:t>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3794759"/>
            <a:ext cx="3291840" cy="7315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50" b="1" i="0">
                <a:solidFill>
                  <a:srgbClr val="13234A"/>
                </a:solidFill>
                <a:latin typeface="Arial"/>
              </a:rPr>
              <a:t>How long does tender approval usually take?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17720" y="3977639"/>
            <a:ext cx="118872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1450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1450F5"/>
                </a:solidFill>
                <a:latin typeface="Arial"/>
              </a:rPr>
              <a:t>Timelines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3703320"/>
            <a:ext cx="5394960" cy="914400"/>
          </a:xfrm>
          <a:prstGeom prst="roundRect">
            <a:avLst>
              <a:gd name="adj" fmla="val 15000"/>
            </a:avLst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3794759"/>
            <a:ext cx="548640" cy="7315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000" b="0" i="0">
                <a:solidFill>
                  <a:srgbClr val="1450F5"/>
                </a:solidFill>
                <a:latin typeface="Arial"/>
              </a:rPr>
              <a:t>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3794759"/>
            <a:ext cx="3291840" cy="7315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50" b="1" i="0">
                <a:solidFill>
                  <a:srgbClr val="13234A"/>
                </a:solidFill>
                <a:latin typeface="Arial"/>
              </a:rPr>
              <a:t>Who is my Tender Specialist and how do I reach them?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287000" y="3977639"/>
            <a:ext cx="118872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1450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1450F5"/>
                </a:solidFill>
                <a:latin typeface="Arial"/>
              </a:rPr>
              <a:t>Contacts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4937760"/>
            <a:ext cx="11064240" cy="1234440"/>
          </a:xfrm>
          <a:prstGeom prst="roundRect">
            <a:avLst>
              <a:gd name="adj" fmla="val 10000"/>
            </a:avLst>
          </a:prstGeom>
          <a:solidFill>
            <a:srgbClr val="132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5029200"/>
            <a:ext cx="256032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24×7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577840"/>
            <a:ext cx="256032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200" b="0" i="0">
                <a:solidFill>
                  <a:srgbClr val="DAE4FF"/>
                </a:solidFill>
                <a:latin typeface="Arial"/>
              </a:rPr>
              <a:t>always available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74720" y="5029200"/>
            <a:ext cx="256032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Seconds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0" y="5577840"/>
            <a:ext cx="256032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200" b="0" i="0">
                <a:solidFill>
                  <a:srgbClr val="DAE4FF"/>
                </a:solidFill>
                <a:latin typeface="Arial"/>
              </a:rPr>
              <a:t>instead of days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5029200"/>
            <a:ext cx="256032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Multi-part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5577840"/>
            <a:ext cx="256032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200" b="0" i="0">
                <a:solidFill>
                  <a:srgbClr val="DAE4FF"/>
                </a:solidFill>
                <a:latin typeface="Arial"/>
              </a:rPr>
              <a:t>answers every part of a question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61120" y="5029200"/>
            <a:ext cx="256032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Learns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61120" y="5577840"/>
            <a:ext cx="256032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200" b="0" i="0">
                <a:solidFill>
                  <a:srgbClr val="DAE4FF"/>
                </a:solidFill>
                <a:latin typeface="Arial"/>
              </a:rPr>
              <a:t>from unanswered questions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3000" b="1" i="0">
                <a:solidFill>
                  <a:srgbClr val="13234A"/>
                </a:solidFill>
                <a:latin typeface="Arial"/>
              </a:rPr>
              <a:t>Safe by design: smart answers, no sensitive leaks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0584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600" b="0" i="0">
                <a:solidFill>
                  <a:srgbClr val="5B6478"/>
                </a:solidFill>
                <a:latin typeface="Arial"/>
              </a:rPr>
              <a:t>JarCube is helpful, but only within what each user is allowed to see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274320"/>
            <a:ext cx="640080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5B6478"/>
                </a:solidFill>
                <a:latin typeface="Arial"/>
              </a:rPr>
              <a:t>JarCube AI Assistant  ×  myKONE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1000" b="0" i="0">
                <a:solidFill>
                  <a:srgbClr val="5B6478"/>
                </a:solidFill>
                <a:latin typeface="Arial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3520440" cy="2148840"/>
          </a:xfrm>
          <a:prstGeom prst="roundRect">
            <a:avLst>
              <a:gd name="adj" fmla="val 8000"/>
            </a:avLst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1783080"/>
            <a:ext cx="685800" cy="685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450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828800"/>
            <a:ext cx="237744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500" b="1" i="0">
                <a:solidFill>
                  <a:srgbClr val="13234A"/>
                </a:solidFill>
                <a:latin typeface="Arial"/>
              </a:rPr>
              <a:t>Only your own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06039"/>
            <a:ext cx="3108960" cy="10515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5B6478"/>
                </a:solidFill>
                <a:latin typeface="Arial"/>
              </a:rPr>
              <a:t>Users only get answers about their own company’s tenders, reports and equipment.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79" y="1554480"/>
            <a:ext cx="3520440" cy="2148840"/>
          </a:xfrm>
          <a:prstGeom prst="roundRect">
            <a:avLst>
              <a:gd name="adj" fmla="val 8000"/>
            </a:avLst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26279" y="1783080"/>
            <a:ext cx="685800" cy="685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450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1828800"/>
            <a:ext cx="237744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500" b="1" i="0">
                <a:solidFill>
                  <a:srgbClr val="13234A"/>
                </a:solidFill>
                <a:latin typeface="Arial"/>
              </a:rPr>
              <a:t>Separate data per customer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79" y="2606039"/>
            <a:ext cx="3108960" cy="10515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5B6478"/>
                </a:solidFill>
                <a:latin typeface="Arial"/>
              </a:rPr>
              <a:t>Every organisation’s knowledge is stored separately. Nothing crosses over.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19" y="1554480"/>
            <a:ext cx="3520440" cy="2148840"/>
          </a:xfrm>
          <a:prstGeom prst="roundRect">
            <a:avLst>
              <a:gd name="adj" fmla="val 8000"/>
            </a:avLst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75319" y="1783080"/>
            <a:ext cx="685800" cy="685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450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1828800"/>
            <a:ext cx="237744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500" b="1" i="0">
                <a:solidFill>
                  <a:srgbClr val="13234A"/>
                </a:solidFill>
                <a:latin typeface="Arial"/>
              </a:rPr>
              <a:t>Holds back sensitive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2606039"/>
            <a:ext cx="3108960" cy="10515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5B6478"/>
                </a:solidFill>
                <a:latin typeface="Arial"/>
              </a:rPr>
              <a:t>Internal notes, confidential pricing and other customers’ data are not disclosed.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931920"/>
            <a:ext cx="3520440" cy="2148840"/>
          </a:xfrm>
          <a:prstGeom prst="roundRect">
            <a:avLst>
              <a:gd name="adj" fmla="val 8000"/>
            </a:avLst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77240" y="4160520"/>
            <a:ext cx="685800" cy="685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450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4206240"/>
            <a:ext cx="237744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500" b="1" i="0">
                <a:solidFill>
                  <a:srgbClr val="13234A"/>
                </a:solidFill>
                <a:latin typeface="Arial"/>
              </a:rPr>
              <a:t>Grounded, not guessed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983479"/>
            <a:ext cx="3108960" cy="10515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5B6478"/>
                </a:solidFill>
                <a:latin typeface="Arial"/>
              </a:rPr>
              <a:t>Answers come only from trusted myKONE content. It never makes up policy.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79" y="3931920"/>
            <a:ext cx="3520440" cy="2148840"/>
          </a:xfrm>
          <a:prstGeom prst="roundRect">
            <a:avLst>
              <a:gd name="adj" fmla="val 8000"/>
            </a:avLst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526279" y="4160520"/>
            <a:ext cx="685800" cy="685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450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9240" y="4206240"/>
            <a:ext cx="237744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500" b="1" i="0">
                <a:solidFill>
                  <a:srgbClr val="13234A"/>
                </a:solidFill>
                <a:latin typeface="Arial"/>
              </a:rPr>
              <a:t>Hands over when unsure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79" y="4983479"/>
            <a:ext cx="3108960" cy="10515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5B6478"/>
                </a:solidFill>
                <a:latin typeface="Arial"/>
              </a:rPr>
              <a:t>When confidence is low, the chat goes to a specialist instead of risking a wrong answer.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19" y="3931920"/>
            <a:ext cx="3520440" cy="2148840"/>
          </a:xfrm>
          <a:prstGeom prst="roundRect">
            <a:avLst>
              <a:gd name="adj" fmla="val 8000"/>
            </a:avLst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275319" y="4160520"/>
            <a:ext cx="685800" cy="685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450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98280" y="4206240"/>
            <a:ext cx="237744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500" b="1" i="0">
                <a:solidFill>
                  <a:srgbClr val="13234A"/>
                </a:solidFill>
                <a:latin typeface="Arial"/>
              </a:rPr>
              <a:t>Role-based access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19" y="4983479"/>
            <a:ext cx="3108960" cy="10515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5B6478"/>
                </a:solidFill>
                <a:latin typeface="Arial"/>
              </a:rPr>
              <a:t>Admins, agents and auditors each see only what their role allows.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3000" b="1" i="0">
                <a:solidFill>
                  <a:srgbClr val="13234A"/>
                </a:solidFill>
                <a:latin typeface="Arial"/>
              </a:rPr>
              <a:t>The JarCube dashboard for the support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0584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600" b="0" i="0">
                <a:solidFill>
                  <a:srgbClr val="5B6478"/>
                </a:solidFill>
                <a:latin typeface="Arial"/>
              </a:rPr>
              <a:t>One place to watch, join and improve every conversation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274320"/>
            <a:ext cx="640080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5B6478"/>
                </a:solidFill>
                <a:latin typeface="Arial"/>
              </a:rPr>
              <a:t>JarCube AI Assistant  ×  myKONE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1000" b="0" i="0">
                <a:solidFill>
                  <a:srgbClr val="5B6478"/>
                </a:solidFill>
                <a:latin typeface="Arial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7406640" cy="4800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9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63040"/>
            <a:ext cx="1737360" cy="4800600"/>
          </a:xfrm>
          <a:prstGeom prst="rect">
            <a:avLst/>
          </a:prstGeom>
          <a:solidFill>
            <a:srgbClr val="132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00200"/>
            <a:ext cx="384048" cy="3840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97280" y="1627632"/>
            <a:ext cx="118872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JarCube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40280"/>
            <a:ext cx="150876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DAE4FF"/>
                </a:solidFill>
                <a:latin typeface="Arial"/>
              </a:rPr>
              <a:t>Dashboard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670048"/>
            <a:ext cx="1554480" cy="365760"/>
          </a:xfrm>
          <a:prstGeom prst="roundRect">
            <a:avLst>
              <a:gd name="adj" fmla="val 20000"/>
            </a:avLst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697480"/>
            <a:ext cx="150876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Arial"/>
              </a:rPr>
              <a:t>Conversations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154680"/>
            <a:ext cx="150876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DAE4FF"/>
                </a:solidFill>
                <a:latin typeface="Arial"/>
              </a:rPr>
              <a:t>Service Requests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611880"/>
            <a:ext cx="150876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DAE4FF"/>
                </a:solidFill>
                <a:latin typeface="Arial"/>
              </a:rPr>
              <a:t>Bots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069080"/>
            <a:ext cx="150876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DAE4FF"/>
                </a:solidFill>
                <a:latin typeface="Arial"/>
              </a:rPr>
              <a:t>Question Bank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526280"/>
            <a:ext cx="150876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DAE4FF"/>
                </a:solidFill>
                <a:latin typeface="Arial"/>
              </a:rPr>
              <a:t>Reports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983480"/>
            <a:ext cx="150876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DAE4FF"/>
                </a:solidFill>
                <a:latin typeface="Arial"/>
              </a:rPr>
              <a:t>Channels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468880" y="1645920"/>
            <a:ext cx="1252728" cy="868680"/>
          </a:xfrm>
          <a:prstGeom prst="roundRect">
            <a:avLst>
              <a:gd name="adj" fmla="val 10000"/>
            </a:avLst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42032" y="1691640"/>
            <a:ext cx="11430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5B6478"/>
                </a:solidFill>
                <a:latin typeface="Arial"/>
              </a:rPr>
              <a:t>Chats today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42032" y="1938528"/>
            <a:ext cx="11430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1450F5"/>
                </a:solidFill>
                <a:latin typeface="Arial"/>
              </a:rPr>
              <a:t>312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13048" y="1645920"/>
            <a:ext cx="1252728" cy="868680"/>
          </a:xfrm>
          <a:prstGeom prst="roundRect">
            <a:avLst>
              <a:gd name="adj" fmla="val 10000"/>
            </a:avLst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86200" y="1691640"/>
            <a:ext cx="11430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5B6478"/>
                </a:solidFill>
                <a:latin typeface="Arial"/>
              </a:rPr>
              <a:t>Solved by 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86200" y="1938528"/>
            <a:ext cx="11430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2EAD5B"/>
                </a:solidFill>
                <a:latin typeface="Arial"/>
              </a:rPr>
              <a:t>81 %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57216" y="1645920"/>
            <a:ext cx="1252728" cy="868680"/>
          </a:xfrm>
          <a:prstGeom prst="roundRect">
            <a:avLst>
              <a:gd name="adj" fmla="val 10000"/>
            </a:avLst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30368" y="1691640"/>
            <a:ext cx="11430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5B6478"/>
                </a:solidFill>
                <a:latin typeface="Arial"/>
              </a:rPr>
              <a:t>Handed to team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30368" y="1938528"/>
            <a:ext cx="11430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FFAB00"/>
                </a:solidFill>
                <a:latin typeface="Arial"/>
              </a:rPr>
              <a:t>59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01384" y="1645920"/>
            <a:ext cx="1252728" cy="868680"/>
          </a:xfrm>
          <a:prstGeom prst="roundRect">
            <a:avLst>
              <a:gd name="adj" fmla="val 10000"/>
            </a:avLst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74536" y="1691640"/>
            <a:ext cx="11430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5B6478"/>
                </a:solidFill>
                <a:latin typeface="Arial"/>
              </a:rPr>
              <a:t>Avg. reply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74536" y="1938528"/>
            <a:ext cx="11430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13234A"/>
                </a:solidFill>
                <a:latin typeface="Arial"/>
              </a:rPr>
              <a:t>4 sec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468880" y="2697480"/>
            <a:ext cx="2514600" cy="640080"/>
          </a:xfrm>
          <a:prstGeom prst="roundRect">
            <a:avLst>
              <a:gd name="adj" fmla="val 10000"/>
            </a:avLst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60320" y="2734056"/>
            <a:ext cx="18288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13234A"/>
                </a:solidFill>
                <a:latin typeface="Arial"/>
              </a:rPr>
              <a:t>Acme Facilities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60320" y="3008376"/>
            <a:ext cx="18288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5B6478"/>
                </a:solidFill>
                <a:latin typeface="Arial"/>
              </a:rPr>
              <a:t>Tender TND-2041 status?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43400" y="2880360"/>
            <a:ext cx="566928" cy="274320"/>
          </a:xfrm>
          <a:prstGeom prst="roundRect">
            <a:avLst>
              <a:gd name="adj" fmla="val 15000"/>
            </a:avLst>
          </a:prstGeom>
          <a:solidFill>
            <a:srgbClr val="2EA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AI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468880" y="3429000"/>
            <a:ext cx="2514600" cy="640080"/>
          </a:xfrm>
          <a:prstGeom prst="roundRect">
            <a:avLst>
              <a:gd name="adj" fmla="val 10000"/>
            </a:avLst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560320" y="3465576"/>
            <a:ext cx="18288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13234A"/>
                </a:solidFill>
                <a:latin typeface="Arial"/>
              </a:rPr>
              <a:t>Nordic Malls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60320" y="3739896"/>
            <a:ext cx="18288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5B6478"/>
                </a:solidFill>
                <a:latin typeface="Arial"/>
              </a:rPr>
              <a:t>Explain finding A-12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343400" y="3611880"/>
            <a:ext cx="566928" cy="274320"/>
          </a:xfrm>
          <a:prstGeom prst="roundRect">
            <a:avLst>
              <a:gd name="adj" fmla="val 15000"/>
            </a:avLst>
          </a:prstGeom>
          <a:solidFill>
            <a:srgbClr val="2EA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AI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468880" y="4160520"/>
            <a:ext cx="2514600" cy="640080"/>
          </a:xfrm>
          <a:prstGeom prst="roundRect">
            <a:avLst>
              <a:gd name="adj" fmla="val 10000"/>
            </a:avLst>
          </a:prstGeom>
          <a:solidFill>
            <a:srgbClr val="E7ED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560320" y="4197096"/>
            <a:ext cx="18288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13234A"/>
                </a:solidFill>
                <a:latin typeface="Arial"/>
              </a:rPr>
              <a:t>City Hospital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60320" y="4471416"/>
            <a:ext cx="18288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5B6478"/>
                </a:solidFill>
                <a:latin typeface="Arial"/>
              </a:rPr>
              <a:t>Change tender scope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343400" y="4343400"/>
            <a:ext cx="566928" cy="274320"/>
          </a:xfrm>
          <a:prstGeom prst="roundRect">
            <a:avLst>
              <a:gd name="adj" fmla="val 15000"/>
            </a:avLst>
          </a:prstGeom>
          <a:solidFill>
            <a:srgbClr val="FF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1" i="0">
                <a:solidFill>
                  <a:srgbClr val="13234A"/>
                </a:solidFill>
                <a:latin typeface="Arial"/>
              </a:rPr>
              <a:t>Agent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468880" y="4892040"/>
            <a:ext cx="2514600" cy="640080"/>
          </a:xfrm>
          <a:prstGeom prst="roundRect">
            <a:avLst>
              <a:gd name="adj" fmla="val 10000"/>
            </a:avLst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560320" y="4928616"/>
            <a:ext cx="18288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13234A"/>
                </a:solidFill>
                <a:latin typeface="Arial"/>
              </a:rPr>
              <a:t>Harbor Towers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560320" y="5202936"/>
            <a:ext cx="18288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5B6478"/>
                </a:solidFill>
                <a:latin typeface="Arial"/>
              </a:rPr>
              <a:t>Invoice copy for Sept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343400" y="5074920"/>
            <a:ext cx="566928" cy="274320"/>
          </a:xfrm>
          <a:prstGeom prst="roundRect">
            <a:avLst>
              <a:gd name="adj" fmla="val 15000"/>
            </a:avLst>
          </a:prstGeom>
          <a:solidFill>
            <a:srgbClr val="2EA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AI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120640" y="2697480"/>
            <a:ext cx="2697480" cy="3383280"/>
          </a:xfrm>
          <a:prstGeom prst="roundRect">
            <a:avLst>
              <a:gd name="adj" fmla="val 5000"/>
            </a:avLst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212079" y="2743200"/>
            <a:ext cx="256032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13234A"/>
                </a:solidFill>
                <a:latin typeface="Arial"/>
              </a:rPr>
              <a:t>City Hospital · live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212079" y="3108960"/>
            <a:ext cx="2103120" cy="548640"/>
          </a:xfrm>
          <a:prstGeom prst="roundRect">
            <a:avLst>
              <a:gd name="adj" fmla="val 25000"/>
            </a:avLst>
          </a:prstGeom>
          <a:solidFill>
            <a:srgbClr val="E7ED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850" b="0" i="0">
                <a:solidFill>
                  <a:srgbClr val="141414"/>
                </a:solidFill>
                <a:latin typeface="Arial"/>
              </a:rPr>
              <a:t>Can we add 2 escalators to tender TND-2018?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623559" y="3749039"/>
            <a:ext cx="2103120" cy="548640"/>
          </a:xfrm>
          <a:prstGeom prst="roundRect">
            <a:avLst>
              <a:gd name="adj" fmla="val 25000"/>
            </a:avLst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850" b="0" i="0">
                <a:solidFill>
                  <a:srgbClr val="FFFFFF"/>
                </a:solidFill>
                <a:latin typeface="Arial"/>
              </a:rPr>
              <a:t>Connecting you to your Tender Specialist…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212079" y="4434840"/>
            <a:ext cx="2514600" cy="365760"/>
          </a:xfrm>
          <a:prstGeom prst="roundRect">
            <a:avLst>
              <a:gd name="adj" fmla="val 15000"/>
            </a:avLst>
          </a:prstGeom>
          <a:solidFill>
            <a:srgbClr val="FFF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0" i="0">
                <a:solidFill>
                  <a:srgbClr val="13234A"/>
                </a:solidFill>
                <a:latin typeface="Arial"/>
              </a:rPr>
              <a:t>🎫 Ticket SR-1182 created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212079" y="5532120"/>
            <a:ext cx="1234440" cy="411480"/>
          </a:xfrm>
          <a:prstGeom prst="roundRect">
            <a:avLst>
              <a:gd name="adj" fmla="val 15000"/>
            </a:avLst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Take over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492240" y="5532120"/>
            <a:ext cx="1234440" cy="411480"/>
          </a:xfrm>
          <a:prstGeom prst="roundRect">
            <a:avLst>
              <a:gd name="adj" fmla="val 15000"/>
            </a:avLst>
          </a:prstGeom>
          <a:solidFill>
            <a:srgbClr val="2EA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Bot: 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468880" y="5897879"/>
            <a:ext cx="27432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800" b="0" i="1">
                <a:solidFill>
                  <a:srgbClr val="5B6478"/>
                </a:solidFill>
                <a:latin typeface="Arial"/>
              </a:rPr>
              <a:t>Illustrative mock-up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229600" y="1463040"/>
            <a:ext cx="3429000" cy="868680"/>
          </a:xfrm>
          <a:prstGeom prst="roundRect">
            <a:avLst>
              <a:gd name="adj" fmla="val 12000"/>
            </a:avLst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366760" y="1517904"/>
            <a:ext cx="320040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50" b="1" i="0">
                <a:solidFill>
                  <a:srgbClr val="13234A"/>
                </a:solidFill>
                <a:latin typeface="Arial"/>
              </a:rPr>
              <a:t>Live inbox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66760" y="1847088"/>
            <a:ext cx="32004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5B6478"/>
                </a:solidFill>
                <a:latin typeface="Arial"/>
              </a:rPr>
              <a:t>Every chat in real time, across all channels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229600" y="2441448"/>
            <a:ext cx="3429000" cy="868680"/>
          </a:xfrm>
          <a:prstGeom prst="roundRect">
            <a:avLst>
              <a:gd name="adj" fmla="val 12000"/>
            </a:avLst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366760" y="2496312"/>
            <a:ext cx="320040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50" b="1" i="0">
                <a:solidFill>
                  <a:srgbClr val="13234A"/>
                </a:solidFill>
                <a:latin typeface="Arial"/>
              </a:rPr>
              <a:t>One-click takeover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66760" y="2825496"/>
            <a:ext cx="32004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5B6478"/>
                </a:solidFill>
                <a:latin typeface="Arial"/>
              </a:rPr>
              <a:t>A specialist joins and the bot steps back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229600" y="3419856"/>
            <a:ext cx="3429000" cy="868680"/>
          </a:xfrm>
          <a:prstGeom prst="roundRect">
            <a:avLst>
              <a:gd name="adj" fmla="val 12000"/>
            </a:avLst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366760" y="3474720"/>
            <a:ext cx="320040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50" b="1" i="0">
                <a:solidFill>
                  <a:srgbClr val="13234A"/>
                </a:solidFill>
                <a:latin typeface="Arial"/>
              </a:rPr>
              <a:t>Service requests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366760" y="3803904"/>
            <a:ext cx="32004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5B6478"/>
                </a:solidFill>
                <a:latin typeface="Arial"/>
              </a:rPr>
              <a:t>Tickets with priority, owner and history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229600" y="4398264"/>
            <a:ext cx="3429000" cy="868680"/>
          </a:xfrm>
          <a:prstGeom prst="roundRect">
            <a:avLst>
              <a:gd name="adj" fmla="val 12000"/>
            </a:avLst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366760" y="4453128"/>
            <a:ext cx="320040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50" b="1" i="0">
                <a:solidFill>
                  <a:srgbClr val="13234A"/>
                </a:solidFill>
                <a:latin typeface="Arial"/>
              </a:rPr>
              <a:t>Question bank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366760" y="4782312"/>
            <a:ext cx="32004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5B6478"/>
                </a:solidFill>
                <a:latin typeface="Arial"/>
              </a:rPr>
              <a:t>Spot unanswered questions and teach the bot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229600" y="5376672"/>
            <a:ext cx="3429000" cy="868680"/>
          </a:xfrm>
          <a:prstGeom prst="roundRect">
            <a:avLst>
              <a:gd name="adj" fmla="val 12000"/>
            </a:avLst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366760" y="5431536"/>
            <a:ext cx="320040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50" b="1" i="0">
                <a:solidFill>
                  <a:srgbClr val="13234A"/>
                </a:solidFill>
                <a:latin typeface="Arial"/>
              </a:rPr>
              <a:t>Reports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366760" y="5760720"/>
            <a:ext cx="32004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5B6478"/>
                </a:solidFill>
                <a:latin typeface="Arial"/>
              </a:rPr>
              <a:t>Volumes, AI resolution rate, response times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3000" b="1" i="0">
                <a:solidFill>
                  <a:srgbClr val="13234A"/>
                </a:solidFill>
                <a:latin typeface="Arial"/>
              </a:rPr>
              <a:t>One brain, any platform, any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0584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600" b="0" i="0">
                <a:solidFill>
                  <a:srgbClr val="5B6478"/>
                </a:solidFill>
                <a:latin typeface="Arial"/>
              </a:rPr>
              <a:t>Train once, then plug JarCube into myKONE or any other platform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274320"/>
            <a:ext cx="640080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5B6478"/>
                </a:solidFill>
                <a:latin typeface="Arial"/>
              </a:rPr>
              <a:t>JarCube AI Assistant  ×  myKONE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1000" b="0" i="0">
                <a:solidFill>
                  <a:srgbClr val="5B6478"/>
                </a:solidFill>
                <a:latin typeface="Arial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292608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5B6478"/>
                </a:solidFill>
                <a:latin typeface="Arial"/>
              </a:rPr>
              <a:t>LEARNS FROM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1417320"/>
            <a:ext cx="297180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5B6478"/>
                </a:solidFill>
                <a:latin typeface="Arial"/>
              </a:rPr>
              <a:t>TALKS TO USERS 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880360"/>
            <a:ext cx="3200400" cy="1645920"/>
          </a:xfrm>
          <a:prstGeom prst="roundRect">
            <a:avLst>
              <a:gd name="adj" fmla="val 15000"/>
            </a:avLst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🤖  JarCube</a:t>
            </a:r>
          </a:p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AI Assistant</a:t>
            </a:r>
          </a:p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/>
            </a:r>
          </a:p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trained on your content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783080"/>
            <a:ext cx="2926080" cy="868680"/>
          </a:xfrm>
          <a:prstGeom prst="roundRect">
            <a:avLst>
              <a:gd name="adj" fmla="val 15000"/>
            </a:avLst>
          </a:prstGeom>
          <a:solidFill>
            <a:srgbClr val="E7ED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13234A"/>
                </a:solidFill>
                <a:latin typeface="Arial"/>
              </a:rPr>
              <a:t>📄  Guides &amp; FAQs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493008" y="2212848"/>
            <a:ext cx="969264" cy="1490472"/>
          </a:xfrm>
          <a:prstGeom prst="line">
            <a:avLst/>
          </a:prstGeom>
          <a:ln w="22225">
            <a:solidFill>
              <a:srgbClr val="1450F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48640" y="2880360"/>
            <a:ext cx="2926080" cy="868680"/>
          </a:xfrm>
          <a:prstGeom prst="roundRect">
            <a:avLst>
              <a:gd name="adj" fmla="val 15000"/>
            </a:avLst>
          </a:prstGeom>
          <a:solidFill>
            <a:srgbClr val="E7ED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13234A"/>
                </a:solidFill>
                <a:latin typeface="Arial"/>
              </a:rPr>
              <a:t>📋  Process documents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493008" y="3310128"/>
            <a:ext cx="969264" cy="393192"/>
          </a:xfrm>
          <a:prstGeom prst="line">
            <a:avLst/>
          </a:prstGeom>
          <a:ln w="22225">
            <a:solidFill>
              <a:srgbClr val="1450F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48640" y="3977639"/>
            <a:ext cx="2926080" cy="868680"/>
          </a:xfrm>
          <a:prstGeom prst="roundRect">
            <a:avLst>
              <a:gd name="adj" fmla="val 15000"/>
            </a:avLst>
          </a:prstGeom>
          <a:solidFill>
            <a:srgbClr val="E7ED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13234A"/>
                </a:solidFill>
                <a:latin typeface="Arial"/>
              </a:rPr>
              <a:t>🌐  Website content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3493008" y="3703320"/>
            <a:ext cx="969264" cy="704087"/>
          </a:xfrm>
          <a:prstGeom prst="line">
            <a:avLst/>
          </a:prstGeom>
          <a:ln w="22225">
            <a:solidFill>
              <a:srgbClr val="1450F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48640" y="5074920"/>
            <a:ext cx="2926080" cy="868680"/>
          </a:xfrm>
          <a:prstGeom prst="roundRect">
            <a:avLst>
              <a:gd name="adj" fmla="val 15000"/>
            </a:avLst>
          </a:prstGeom>
          <a:solidFill>
            <a:srgbClr val="E7ED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13234A"/>
                </a:solidFill>
                <a:latin typeface="Arial"/>
              </a:rPr>
              <a:t>🔗  Platform data</a:t>
            </a:r>
          </a:p>
          <a:p>
            <a:pPr algn="ctr"/>
            <a:r>
              <a:rPr sz="1300" b="1" i="0">
                <a:solidFill>
                  <a:srgbClr val="13234A"/>
                </a:solidFill>
                <a:latin typeface="Arial"/>
              </a:rPr>
              <a:t>(tenders, reports, equipment)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3493008" y="3703320"/>
            <a:ext cx="969264" cy="1801368"/>
          </a:xfrm>
          <a:prstGeom prst="line">
            <a:avLst/>
          </a:prstGeom>
          <a:ln w="22225">
            <a:solidFill>
              <a:srgbClr val="1450F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686800" y="1783080"/>
            <a:ext cx="297180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1450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13234A"/>
                </a:solidFill>
                <a:latin typeface="Arial"/>
              </a:rPr>
              <a:t>🖥  myKONE portal widget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7699248" y="2148840"/>
            <a:ext cx="969264" cy="1554480"/>
          </a:xfrm>
          <a:prstGeom prst="line">
            <a:avLst/>
          </a:prstGeom>
          <a:ln w="22225">
            <a:solidFill>
              <a:srgbClr val="1450F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686800" y="2670048"/>
            <a:ext cx="297180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1450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13234A"/>
                </a:solidFill>
                <a:latin typeface="Arial"/>
              </a:rPr>
              <a:t>💬  WhatsApp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7699248" y="3035808"/>
            <a:ext cx="969264" cy="667512"/>
          </a:xfrm>
          <a:prstGeom prst="line">
            <a:avLst/>
          </a:prstGeom>
          <a:ln w="22225">
            <a:solidFill>
              <a:srgbClr val="1450F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686800" y="3557015"/>
            <a:ext cx="297180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1450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13234A"/>
                </a:solidFill>
                <a:latin typeface="Arial"/>
              </a:rPr>
              <a:t>✈️  Telegram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699248" y="3703320"/>
            <a:ext cx="969264" cy="219456"/>
          </a:xfrm>
          <a:prstGeom prst="line">
            <a:avLst/>
          </a:prstGeom>
          <a:ln w="22225">
            <a:solidFill>
              <a:srgbClr val="1450F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686800" y="4443984"/>
            <a:ext cx="297180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1450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13234A"/>
                </a:solidFill>
                <a:latin typeface="Arial"/>
              </a:rPr>
              <a:t>📘  Facebook Messenger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699248" y="3703320"/>
            <a:ext cx="969264" cy="1106424"/>
          </a:xfrm>
          <a:prstGeom prst="line">
            <a:avLst/>
          </a:prstGeom>
          <a:ln w="22225">
            <a:solidFill>
              <a:srgbClr val="1450F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686800" y="5330952"/>
            <a:ext cx="297180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1450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13234A"/>
                </a:solidFill>
                <a:latin typeface="Arial"/>
              </a:rPr>
              <a:t>🧩  Any other web platform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699248" y="3703320"/>
            <a:ext cx="969264" cy="1993392"/>
          </a:xfrm>
          <a:prstGeom prst="line">
            <a:avLst/>
          </a:prstGeom>
          <a:ln w="22225">
            <a:solidFill>
              <a:srgbClr val="1450F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3000" b="1" i="0">
                <a:solidFill>
                  <a:srgbClr val="13234A"/>
                </a:solidFill>
                <a:latin typeface="Arial"/>
              </a:rPr>
              <a:t>Before vs after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0584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600" b="0" i="0">
                <a:solidFill>
                  <a:srgbClr val="5B6478"/>
                </a:solidFill>
                <a:latin typeface="Arial"/>
              </a:rPr>
              <a:t>What changes for users, specialists and KONE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274320"/>
            <a:ext cx="640080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5B6478"/>
                </a:solidFill>
                <a:latin typeface="Arial"/>
              </a:rPr>
              <a:t>JarCube AI Assistant  ×  myKONE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1000" b="0" i="0">
                <a:solidFill>
                  <a:srgbClr val="5B6478"/>
                </a:solidFill>
                <a:latin typeface="Arial"/>
              </a:rP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3611880" y="1463040"/>
            <a:ext cx="3931920" cy="548640"/>
          </a:xfrm>
          <a:prstGeom prst="rect">
            <a:avLst/>
          </a:prstGeom>
          <a:solidFill>
            <a:srgbClr val="FFE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89520" y="1463040"/>
            <a:ext cx="4069080" cy="548640"/>
          </a:xfrm>
          <a:prstGeom prst="rect">
            <a:avLst/>
          </a:prstGeom>
          <a:solidFill>
            <a:srgbClr val="DDF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1463040"/>
            <a:ext cx="3749039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500" b="1" i="0">
                <a:solidFill>
                  <a:srgbClr val="E5391A"/>
                </a:solidFill>
                <a:latin typeface="Arial"/>
              </a:rPr>
              <a:t>❌  Today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1463040"/>
            <a:ext cx="393192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500" b="1" i="0">
                <a:solidFill>
                  <a:srgbClr val="2EAD5B"/>
                </a:solidFill>
                <a:latin typeface="Arial"/>
              </a:rPr>
              <a:t>✅  With JarCube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057400"/>
            <a:ext cx="11109960" cy="502920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057400"/>
            <a:ext cx="292608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 i="0">
                <a:solidFill>
                  <a:srgbClr val="13234A"/>
                </a:solidFill>
                <a:latin typeface="Arial"/>
              </a:rPr>
              <a:t>Getting help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057400"/>
            <a:ext cx="384048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50" b="0" i="0">
                <a:solidFill>
                  <a:srgbClr val="5B6478"/>
                </a:solidFill>
                <a:latin typeface="Arial"/>
              </a:rPr>
              <a:t>Phone call or email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2057400"/>
            <a:ext cx="3931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50" b="1" i="0">
                <a:solidFill>
                  <a:srgbClr val="141414"/>
                </a:solidFill>
                <a:latin typeface="Arial"/>
              </a:rPr>
              <a:t>Chat on any myKONE page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587752"/>
            <a:ext cx="1110996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587752"/>
            <a:ext cx="292608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 i="0">
                <a:solidFill>
                  <a:srgbClr val="13234A"/>
                </a:solidFill>
                <a:latin typeface="Arial"/>
              </a:rPr>
              <a:t>Tender status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2587752"/>
            <a:ext cx="384048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50" b="0" i="0">
                <a:solidFill>
                  <a:srgbClr val="5B6478"/>
                </a:solidFill>
                <a:latin typeface="Arial"/>
              </a:rPr>
              <a:t>Ask a Tender Specialist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2587752"/>
            <a:ext cx="3931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50" b="1" i="0">
                <a:solidFill>
                  <a:srgbClr val="141414"/>
                </a:solidFill>
                <a:latin typeface="Arial"/>
              </a:rPr>
              <a:t>Instant self-service answer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118104"/>
            <a:ext cx="11109960" cy="502920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118104"/>
            <a:ext cx="292608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 i="0">
                <a:solidFill>
                  <a:srgbClr val="13234A"/>
                </a:solidFill>
                <a:latin typeface="Arial"/>
              </a:rPr>
              <a:t>3PI reports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3118104"/>
            <a:ext cx="384048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50" b="0" i="0">
                <a:solidFill>
                  <a:srgbClr val="5B6478"/>
                </a:solidFill>
                <a:latin typeface="Arial"/>
              </a:rPr>
              <a:t>Read alone, or call for help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3118104"/>
            <a:ext cx="3931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50" b="1" i="0">
                <a:solidFill>
                  <a:srgbClr val="141414"/>
                </a:solidFill>
                <a:latin typeface="Arial"/>
              </a:rPr>
              <a:t>Plain-language explanation and next steps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648456"/>
            <a:ext cx="1110996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648456"/>
            <a:ext cx="292608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 i="0">
                <a:solidFill>
                  <a:srgbClr val="13234A"/>
                </a:solidFill>
                <a:latin typeface="Arial"/>
              </a:rPr>
              <a:t>Availability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3648456"/>
            <a:ext cx="384048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50" b="0" i="0">
                <a:solidFill>
                  <a:srgbClr val="5B6478"/>
                </a:solidFill>
                <a:latin typeface="Arial"/>
              </a:rPr>
              <a:t>Office hours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3648456"/>
            <a:ext cx="3931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50" b="1" i="0">
                <a:solidFill>
                  <a:srgbClr val="141414"/>
                </a:solidFill>
                <a:latin typeface="Arial"/>
              </a:rPr>
              <a:t>24×7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178808"/>
            <a:ext cx="11109960" cy="502920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178808"/>
            <a:ext cx="292608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 i="0">
                <a:solidFill>
                  <a:srgbClr val="13234A"/>
                </a:solidFill>
                <a:latin typeface="Arial"/>
              </a:rPr>
              <a:t>Response time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03320" y="4178808"/>
            <a:ext cx="384048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50" b="0" i="0">
                <a:solidFill>
                  <a:srgbClr val="5B6478"/>
                </a:solidFill>
                <a:latin typeface="Arial"/>
              </a:rPr>
              <a:t>Hours to days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0" y="4178808"/>
            <a:ext cx="3931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50" b="1" i="0">
                <a:solidFill>
                  <a:srgbClr val="141414"/>
                </a:solidFill>
                <a:latin typeface="Arial"/>
              </a:rPr>
              <a:t>Seconds (complex cases go to a person)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709160"/>
            <a:ext cx="1110996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4709160"/>
            <a:ext cx="292608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 i="0">
                <a:solidFill>
                  <a:srgbClr val="13234A"/>
                </a:solidFill>
                <a:latin typeface="Arial"/>
              </a:rPr>
              <a:t>Specialist workload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03320" y="4709160"/>
            <a:ext cx="384048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50" b="0" i="0">
                <a:solidFill>
                  <a:srgbClr val="5B6478"/>
                </a:solidFill>
                <a:latin typeface="Arial"/>
              </a:rPr>
              <a:t>Repeat questions all day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0960" y="4709160"/>
            <a:ext cx="3931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50" b="1" i="0">
                <a:solidFill>
                  <a:srgbClr val="141414"/>
                </a:solidFill>
                <a:latin typeface="Arial"/>
              </a:rPr>
              <a:t>Only complex, high-value cases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239512"/>
            <a:ext cx="11109960" cy="502920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5239512"/>
            <a:ext cx="292608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 i="0">
                <a:solidFill>
                  <a:srgbClr val="13234A"/>
                </a:solidFill>
                <a:latin typeface="Arial"/>
              </a:rPr>
              <a:t>Tickets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03320" y="5239512"/>
            <a:ext cx="384048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50" b="0" i="0">
                <a:solidFill>
                  <a:srgbClr val="5B6478"/>
                </a:solidFill>
                <a:latin typeface="Arial"/>
              </a:rPr>
              <a:t>Raised manually in ServiceNow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80960" y="5239512"/>
            <a:ext cx="3931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50" b="1" i="0">
                <a:solidFill>
                  <a:srgbClr val="141414"/>
                </a:solidFill>
                <a:latin typeface="Arial"/>
              </a:rPr>
              <a:t>Created with the full chat context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5769864"/>
            <a:ext cx="1110996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5769864"/>
            <a:ext cx="292608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 i="0">
                <a:solidFill>
                  <a:srgbClr val="13234A"/>
                </a:solidFill>
                <a:latin typeface="Arial"/>
              </a:rPr>
              <a:t>Visibility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03320" y="5769864"/>
            <a:ext cx="384048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50" b="0" i="0">
                <a:solidFill>
                  <a:srgbClr val="5B6478"/>
                </a:solidFill>
                <a:latin typeface="Arial"/>
              </a:rPr>
              <a:t>Scattered emails and calls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80960" y="5769864"/>
            <a:ext cx="3931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50" b="1" i="0">
                <a:solidFill>
                  <a:srgbClr val="141414"/>
                </a:solidFill>
                <a:latin typeface="Arial"/>
              </a:rPr>
              <a:t>One dashboard with reports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3000" b="1" i="0">
                <a:solidFill>
                  <a:srgbClr val="13234A"/>
                </a:solidFill>
                <a:latin typeface="Arial"/>
              </a:rPr>
              <a:t>Proposed rollout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05840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600" b="0" i="0">
                <a:solidFill>
                  <a:srgbClr val="5B6478"/>
                </a:solidFill>
                <a:latin typeface="Arial"/>
              </a:rPr>
              <a:t>Start small, prove the value, then scale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274320"/>
            <a:ext cx="640080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5B6478"/>
                </a:solidFill>
                <a:latin typeface="Arial"/>
              </a:rPr>
              <a:t>JarCube AI Assistant  ×  myKONE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1000" b="0" i="0">
                <a:solidFill>
                  <a:srgbClr val="5B6478"/>
                </a:solidFill>
                <a:latin typeface="Arial"/>
              </a:rPr>
              <a:t>15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788920"/>
            <a:ext cx="10607040" cy="73152"/>
          </a:xfrm>
          <a:prstGeom prst="rect">
            <a:avLst/>
          </a:prstGeom>
          <a:solidFill>
            <a:srgbClr val="E7ED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554480" y="2514600"/>
            <a:ext cx="594360" cy="594360"/>
          </a:xfrm>
          <a:prstGeom prst="ellipse">
            <a:avLst/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08760"/>
            <a:ext cx="260604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300" b="1" i="0">
                <a:solidFill>
                  <a:srgbClr val="5B6478"/>
                </a:solidFill>
                <a:latin typeface="Arial"/>
              </a:rPr>
              <a:t>Phase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828800"/>
            <a:ext cx="260604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2000" b="1" i="0">
                <a:solidFill>
                  <a:srgbClr val="13234A"/>
                </a:solidFill>
                <a:latin typeface="Arial"/>
              </a:rPr>
              <a:t>Pilot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383280"/>
            <a:ext cx="2606040" cy="2286000"/>
          </a:xfrm>
          <a:prstGeom prst="roundRect">
            <a:avLst>
              <a:gd name="adj" fmla="val 8000"/>
            </a:avLst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383280"/>
            <a:ext cx="2423160" cy="73152"/>
          </a:xfrm>
          <a:prstGeom prst="rect">
            <a:avLst/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611880"/>
            <a:ext cx="2377440" cy="20116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141414"/>
                </a:solidFill>
                <a:latin typeface="Arial"/>
              </a:rPr>
              <a:t>•  Train on myKONE FAQs &amp; guides</a:t>
            </a:r>
          </a:p>
          <a:p>
            <a:pPr algn="l"/>
            <a:r>
              <a:rPr sz="1300" b="0" i="0">
                <a:solidFill>
                  <a:srgbClr val="141414"/>
                </a:solidFill>
                <a:latin typeface="Arial"/>
              </a:rPr>
              <a:t>•  Widget on the portal</a:t>
            </a:r>
          </a:p>
          <a:p>
            <a:pPr algn="l"/>
            <a:r>
              <a:rPr sz="1300" b="0" i="0">
                <a:solidFill>
                  <a:srgbClr val="141414"/>
                </a:solidFill>
                <a:latin typeface="Arial"/>
              </a:rPr>
              <a:t>•  Quick-question answers</a:t>
            </a:r>
          </a:p>
        </p:txBody>
      </p:sp>
      <p:sp>
        <p:nvSpPr>
          <p:cNvPr id="15" name="Oval 14"/>
          <p:cNvSpPr/>
          <p:nvPr/>
        </p:nvSpPr>
        <p:spPr>
          <a:xfrm>
            <a:off x="4389120" y="2514600"/>
            <a:ext cx="594360" cy="594360"/>
          </a:xfrm>
          <a:prstGeom prst="ellipse">
            <a:avLst/>
          </a:prstGeom>
          <a:solidFill>
            <a:srgbClr val="224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1508760"/>
            <a:ext cx="260604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300" b="1" i="0">
                <a:solidFill>
                  <a:srgbClr val="5B6478"/>
                </a:solidFill>
                <a:latin typeface="Arial"/>
              </a:rPr>
              <a:t>Phase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1828800"/>
            <a:ext cx="260604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2000" b="1" i="0">
                <a:solidFill>
                  <a:srgbClr val="13234A"/>
                </a:solidFill>
                <a:latin typeface="Arial"/>
              </a:rPr>
              <a:t>Connect data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83280" y="3383280"/>
            <a:ext cx="2606040" cy="2286000"/>
          </a:xfrm>
          <a:prstGeom prst="roundRect">
            <a:avLst>
              <a:gd name="adj" fmla="val 8000"/>
            </a:avLst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74720" y="3383280"/>
            <a:ext cx="2423160" cy="73152"/>
          </a:xfrm>
          <a:prstGeom prst="rect">
            <a:avLst/>
          </a:prstGeom>
          <a:solidFill>
            <a:srgbClr val="224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20440" y="3611880"/>
            <a:ext cx="2377440" cy="20116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141414"/>
                </a:solidFill>
                <a:latin typeface="Arial"/>
              </a:rPr>
              <a:t>•  Live tender status</a:t>
            </a:r>
          </a:p>
          <a:p>
            <a:pPr algn="l"/>
            <a:r>
              <a:rPr sz="1300" b="0" i="0">
                <a:solidFill>
                  <a:srgbClr val="141414"/>
                </a:solidFill>
                <a:latin typeface="Arial"/>
              </a:rPr>
              <a:t>•  3PI report explanations</a:t>
            </a:r>
          </a:p>
          <a:p>
            <a:pPr algn="l"/>
            <a:r>
              <a:rPr sz="1300" b="0" i="0">
                <a:solidFill>
                  <a:srgbClr val="141414"/>
                </a:solidFill>
                <a:latin typeface="Arial"/>
              </a:rPr>
              <a:t>•  Equipment page assistant</a:t>
            </a:r>
          </a:p>
        </p:txBody>
      </p:sp>
      <p:sp>
        <p:nvSpPr>
          <p:cNvPr id="21" name="Oval 20"/>
          <p:cNvSpPr/>
          <p:nvPr/>
        </p:nvSpPr>
        <p:spPr>
          <a:xfrm>
            <a:off x="7223760" y="2514600"/>
            <a:ext cx="594360" cy="594360"/>
          </a:xfrm>
          <a:prstGeom prst="ellipse">
            <a:avLst/>
          </a:prstGeom>
          <a:solidFill>
            <a:srgbClr val="03A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1508760"/>
            <a:ext cx="260604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300" b="1" i="0">
                <a:solidFill>
                  <a:srgbClr val="5B6478"/>
                </a:solidFill>
                <a:latin typeface="Arial"/>
              </a:rPr>
              <a:t>Phase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1828800"/>
            <a:ext cx="260604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2000" b="1" i="0">
                <a:solidFill>
                  <a:srgbClr val="13234A"/>
                </a:solidFill>
                <a:latin typeface="Arial"/>
              </a:rPr>
              <a:t>Smart handover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383280"/>
            <a:ext cx="2606040" cy="2286000"/>
          </a:xfrm>
          <a:prstGeom prst="roundRect">
            <a:avLst>
              <a:gd name="adj" fmla="val 8000"/>
            </a:avLst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9359" y="3383280"/>
            <a:ext cx="2423160" cy="73152"/>
          </a:xfrm>
          <a:prstGeom prst="rect">
            <a:avLst/>
          </a:prstGeom>
          <a:solidFill>
            <a:srgbClr val="03A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3611880"/>
            <a:ext cx="2377440" cy="20116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141414"/>
                </a:solidFill>
                <a:latin typeface="Arial"/>
              </a:rPr>
              <a:t>•  Specialist takeover in the dashboard</a:t>
            </a:r>
          </a:p>
          <a:p>
            <a:pPr algn="l"/>
            <a:r>
              <a:rPr sz="1300" b="0" i="0">
                <a:solidFill>
                  <a:srgbClr val="141414"/>
                </a:solidFill>
                <a:latin typeface="Arial"/>
              </a:rPr>
              <a:t>•  Tickets with full chat context</a:t>
            </a:r>
          </a:p>
          <a:p>
            <a:pPr algn="l"/>
            <a:r>
              <a:rPr sz="1300" b="0" i="0">
                <a:solidFill>
                  <a:srgbClr val="141414"/>
                </a:solidFill>
                <a:latin typeface="Arial"/>
              </a:rPr>
              <a:t>•  Hand-off to ServiceNow</a:t>
            </a:r>
          </a:p>
        </p:txBody>
      </p:sp>
      <p:sp>
        <p:nvSpPr>
          <p:cNvPr id="27" name="Oval 26"/>
          <p:cNvSpPr/>
          <p:nvPr/>
        </p:nvSpPr>
        <p:spPr>
          <a:xfrm>
            <a:off x="10058400" y="2514600"/>
            <a:ext cx="594360" cy="594360"/>
          </a:xfrm>
          <a:prstGeom prst="ellipse">
            <a:avLst/>
          </a:prstGeom>
          <a:solidFill>
            <a:srgbClr val="2EA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1508760"/>
            <a:ext cx="260604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300" b="1" i="0">
                <a:solidFill>
                  <a:srgbClr val="5B6478"/>
                </a:solidFill>
                <a:latin typeface="Arial"/>
              </a:rPr>
              <a:t>Phase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1828800"/>
            <a:ext cx="260604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2000" b="1" i="0">
                <a:solidFill>
                  <a:srgbClr val="13234A"/>
                </a:solidFill>
                <a:latin typeface="Arial"/>
              </a:rPr>
              <a:t>Scale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52560" y="3383280"/>
            <a:ext cx="2606040" cy="2286000"/>
          </a:xfrm>
          <a:prstGeom prst="roundRect">
            <a:avLst>
              <a:gd name="adj" fmla="val 8000"/>
            </a:avLst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144000" y="3383280"/>
            <a:ext cx="2423160" cy="73152"/>
          </a:xfrm>
          <a:prstGeom prst="rect">
            <a:avLst/>
          </a:prstGeom>
          <a:solidFill>
            <a:srgbClr val="2EA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89720" y="3611880"/>
            <a:ext cx="2377440" cy="20116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141414"/>
                </a:solidFill>
                <a:latin typeface="Arial"/>
              </a:rPr>
              <a:t>•  More countries &amp; languages</a:t>
            </a:r>
          </a:p>
          <a:p>
            <a:pPr algn="l"/>
            <a:r>
              <a:rPr sz="1300" b="0" i="0">
                <a:solidFill>
                  <a:srgbClr val="141414"/>
                </a:solidFill>
                <a:latin typeface="Arial"/>
              </a:rPr>
              <a:t>•  WhatsApp &amp; other channels</a:t>
            </a:r>
          </a:p>
          <a:p>
            <a:pPr algn="l"/>
            <a:r>
              <a:rPr sz="1300" b="0" i="0">
                <a:solidFill>
                  <a:srgbClr val="141414"/>
                </a:solidFill>
                <a:latin typeface="Arial"/>
              </a:rPr>
              <a:t>•  Reuse on other platforms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806440"/>
            <a:ext cx="11064240" cy="4572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1450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0" i="0">
                <a:solidFill>
                  <a:srgbClr val="13234A"/>
                </a:solidFill>
                <a:latin typeface="Arial"/>
              </a:rPr>
              <a:t>Success measures: share of questions solved by AI · response time · specialist hours saved · user satisfaction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3840480"/>
            <a:ext cx="5486400" cy="5486400"/>
          </a:xfrm>
          <a:prstGeom prst="ellipse">
            <a:avLst/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idget-rob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554480"/>
            <a:ext cx="3657600" cy="3149369"/>
          </a:xfrm>
          <a:prstGeom prst="rect">
            <a:avLst/>
          </a:prstGeom>
        </p:spPr>
      </p:pic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640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920240"/>
            <a:ext cx="6858000" cy="9144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Arial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6675120" cy="10972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000" b="0" i="0">
                <a:solidFill>
                  <a:srgbClr val="DAE4FF"/>
                </a:solidFill>
                <a:latin typeface="Arial"/>
              </a:rPr>
              <a:t>From a phone call and a ticket queue to an instant, secure answer on every myKONE page.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06240"/>
            <a:ext cx="640080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Questions &amp; live 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